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5"/>
  </p:notesMasterIdLst>
  <p:sldIdLst>
    <p:sldId id="303" r:id="rId5"/>
    <p:sldId id="292" r:id="rId6"/>
    <p:sldId id="293" r:id="rId7"/>
    <p:sldId id="348" r:id="rId8"/>
    <p:sldId id="347" r:id="rId9"/>
    <p:sldId id="343" r:id="rId10"/>
    <p:sldId id="349" r:id="rId11"/>
    <p:sldId id="346" r:id="rId12"/>
    <p:sldId id="331" r:id="rId13"/>
    <p:sldId id="342"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603442-4120-42FF-BF6F-962FD61A67AD}" v="36" dt="2025-08-23T14:21:25.024"/>
    <p1510:client id="{F6CC3AC1-4CBA-4AD4-8263-3D7F1B58D138}" v="1" dt="2025-08-24T13:09:09.0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4" autoAdjust="0"/>
    <p:restoredTop sz="86886" autoAdjust="0"/>
  </p:normalViewPr>
  <p:slideViewPr>
    <p:cSldViewPr snapToGrid="0" snapToObjects="1">
      <p:cViewPr varScale="1">
        <p:scale>
          <a:sx n="123" d="100"/>
          <a:sy n="123" d="100"/>
        </p:scale>
        <p:origin x="392" y="300"/>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Wed, 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Before we dive into upgrades, let's understand what Storage Spaces Direct actually is and why it's revolutionizing datacenter storage architectures.
BULLETS:
• Sell line: Transform local disks into enterprise-grade storage - This is Microsoft's elevator pitch for S2D. Instead of buying expensive SAN hardware from EMC or NetApp, you use industry-standard servers with local disks. S2D transforms these local disks into highly available, scalable shared storage. It's the foundation of hyper-converged infrastructure, combining compute and storage in the same cluster nodes.
• Software-defined storage built into Windows Server - S2D isn't an add-on or separate product - it's built right into Windows Server Datacenter Edition. It uses the same Storage Spaces technology from Windows 8 but adds clustering and distributed storage capabilities. No special hardware requirements beyond standard enterprise servers. The software handles everything from disk management to data placement to failure recovery.
• Aggregates internal disks across cluster nodes into shared pools - Each server contributes its local disks to a shared storage pool that spans the entire cluster. If you have 4 nodes with 10 disks each, S2D sees 40 disks it can use for redundancy and performance. The pool abstracts the physical hardware, so you don't manage individual disks anymore. You manage capacity and performance at the pool level.
• Provides high availability with automatic failover - S2D automatically maintains multiple copies of your data across different nodes. If a disk fails, S2D rebuilds the data on remaining disks automatically. If a node fails, VMs continue running on other nodes using the redundant data copies. Recovery is automatic and transparent. No manual intervention required for most failures.
• Supports tiering, caching, mirroring, and parity - S2D isn't just dumb disk aggregation. It intelligently uses SSDs for caching hot data, automatically tiers between fast and slow media, supports multiple resiliency options (two-way mirror, three-way mirror, dual parity), and optimizes data placement for performance. The cache is especially powerful, using NVMe or SSD drives to accelerate both reads and writes.
• Adventure Works uses S2D to replace SANs with hyper-converged storage - Adventure Works had aging Fibre Channel SANs costing $500K to refresh. Instead, they deployed 4-node S2D clusters using Dell PowerEdge servers with local NVMe and SAS drives. Total cost was $150K including Windows licenses. They got better performance (2M IOPS), simplified management through WAC, and eliminated the SAN team silo. Their VM deployment time dropped from days to minutes.
AZ-801 EXAM TIP: Know the S2D deployment options for the exam. Hyper-converged means compute and storage on the same nodes (most common). Disaggregated means separate S2D storage cluster serving a compute cluster (like a SAN replacement). The exam might ask about minimum hardware - remember it's 2 nodes minimum but Microsoft recommends 4 for production. Each node needs at least 4 data drives plus boot drive. 10 GbE networking is the minimum, 25 GbE or higher recommended.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Upgrading S2D nodes requires careful orchestration to maintain data availability - let's walk through the process of refreshing your storage infrastructure without downtime.
BULLETS:
• Storage maintenance mode safely drains data from a node - Before touching any S2D node for upgrades or maintenance, you must put it in storage maintenance mode. This tells S2D to evacuate all data from that node's disks to other nodes in the cluster. The process is similar to VM live migration but for storage blocks. Use Enter-StorageMaintenanceMode in PowerShell or the WAC interface. The node stays in the cluster but doesn't host any storage.
• Data evacuation moves replicas before hardware/OS work - When you trigger maintenance mode, S2D starts moving all data blocks that have copies on the target node. For a two-way mirror, it ensures the other copy is on a different node. For three-way mirror, it maintains two copies elsewhere. This process can take hours depending on data volume and network speed. Monitor progress with Get-StorageJob to see evacuation status. Never rush this process or you risk data loss.
• Rolling upgrades keep cluster online during refresh - The beauty of S2D is that you can upgrade one node at a time while storage remains available. Put node 1 in maintenance mode, evacuate its data, perform the in-place upgrade to Windows Server 2025, validate the upgrade succeeded, exit maintenance mode, and data rebalances back. Repeat for each node sequentially. The cluster runs in mixed mode temporarily (maximum 30 days recommended).
• Health monitoring ensures resiliency throughout process - During upgrades, constantly monitor cluster health to ensure you maintain resiliency. Use Get-StorageSubSystem | Get-StorageHealthReport for detailed status. Check that you have enough capacity for data evacuation before starting. Watch for any storage jobs stuck in progress. Verify storage pool health with Get-StoragePool | Get-StoragePoolHealth. If health degrades, pause the upgrade process immediately.
• Fabrikam upgrades WS2019 nodes to WS2025 with no downtime - Fabrikam runs a 6-node S2D cluster with 100TB of data supporting 500 VMs. They upgraded to Server 2025 over three weekends, two nodes per weekend. Process per node took 4 hours: 2 hours for data evacuation, 1 hour for OS upgrade, 1 hour for validation and rebalance. They maintained three-way mirror resiliency throughout. Zero VM downtime, zero data loss. The upgrade unlocked new features like deduplication for ReFS and improved performance.
AZ-801 EXAM TIP: The exam tests the storage maintenance mode workflow. Remember the PowerShell commands: Enter-StorageMaintenanceMode to start, Get-StorageNode to check status, and Exit-StorageMaintenanceMode to complete. If asked about timing, data evacuation speed depends on amount of data and network speed - typically 1-2 TB per hour on 10 GbE. Never put multiple nodes in maintenance mode simultaneously or you'll lose resiliency. The cluster functional level for storage (Update-StoragePool) is separate from the cluster functional level.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Storage Spaces Direct lives and dies by its network performance - let's configure the networking stack to deliver the throughput and latency S2D demands.
BULLETS:
• RDMA (RoCE/iWARP) delivers low-latency storage traffic - RDMA is the secret sauce that makes S2D perform like a real SAN. It bypasses the kernel and CPU to transfer data directly between memory buffers. Two flavors work with S2D: RoCE (RDMA over Converged Ethernet) requires DCB configuration but works with standard Ethernet switches. iWARP works over TCP/IP without special switch configuration but has slightly higher latency. Both deliver under 5 microsecond latency compared to 50+ microseconds for standard TCP/IP.
• Switch Embedded Teaming (SET) combines NICs for redundancy - SET is Microsoft's replacement for traditional NIC teaming in hyper-converged scenarios. It's built into the Hyper-V virtual switch and supports up to 8 physical NICs. SET provides load balancing and failover for both VM traffic and SMB storage traffic on the same team. Configure with New-VMSwitch -EnableEmbeddedTeaming. Unlike LBFO teaming, SET supports RDMA, VMQ, and SR-IOV simultaneously.
• Traffic separation isolates storage from client workloads - S2D best practice is to separate storage traffic from other workloads. Use VLANs to isolate SMB storage traffic (typically VLAN 100+). Configure multiple virtual NICs on your SET team: one for management, one for VM traffic, one for live migration, and one for storage. Use Set-VMNetworkAdapterVlan to tag traffic. This prevents client traffic from saturating your storage network during backups or large transfers.
• SMB Direct leverages RDMA for efficient storage ops - SMB Direct is SMB 3.x running over RDMA instead of TCP/IP. It's enabled automatically when RDMA-capable adapters are detected. Verify with Get-SmbClientNetworkInterface and look for "RDMA Capable = True". SMB Direct provides CPU offload, reducing processor usage by 40-50% during storage operations. It also enables SMB Multichannel for automatic load balancing across all available NICs.
• Contoso applies QoS policies to prioritize storage traffic - Contoso uses Datacenter Bridging (DCB) to guarantee bandwidth for S2D traffic. They configure Priority Flow Control (PFC) to prevent packet loss on storage traffic. Enhanced Transmission Selection (ETS) reserves 50% minimum bandwidth for SMB storage. They apply QoS policies via PowerShell: New-NetQosPolicy -Name "SMB" -NetDirectPortMatchCondition 445 -PriorityValue8021Action 3. Result is predictable storage performance even during network congestion.
AZ-801 EXAM TIP: The exam loves testing RDMA requirements. For RoCE, you need DCB-capable switches and must configure PFC and ETS. For iWARP, no special switches required but you need iWARP-capable NICs (Intel X722, Chelsio T5/T6). To verify RDMA is working: Get-NetAdapterRdma shows capability, Get-SmbMultichannelConnection shows active RDMA connections. If asked about bandwidth, S2D requires minimum 10 GbE but Microsoft recommends 25 GbE or higher for production. Remember that RDMA doesn't work over routers - it's for local subnet only.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Now for the main event - actually configuring Storage Spaces Direct to transform your local disks into enterprise shared storage.
BULLETS:
• Storage pools aggregate disks across cluster nodes - The storage pool is S2D's foundation, combining all eligible disks from all nodes into one logical unit. Enable S2D with Enable-ClusterS2D which automatically creates a pool named "S2D on ClusterName". The pool discovers all disks except boot drives and automatically adds them. You can see pool capacity with Get-StoragePool S2D* | Select FriendlyName, Size, AllocatedSize. Disks are automatically distributed across fault domains for resiliency.
• Tiering combines SSD and HDD for performance + capacity - S2D automatically creates tiers when you have mixed media types. The performance tier uses SSD/NVMe for hot data while the capacity tier uses HDD for cold data. When creating volumes, specify -StorageTierFriendlyNames Performance, Capacity to use both. S2D automatically moves hot data to fast storage using heat maps. You get SAN-like performance at a fraction of the cost by combining a small amount of flash with large HDDs.
• Resiliency settings (mirror, parity) balance speed vs. efficiency - Two-way mirror requires 2x capacity but delivers best performance - use for active VMs and databases. Three-way mirror requires 3x capacity but tolerates two simultaneous failures - use for critical workloads. Parity (similar to RAID-5) requires only 1.5x capacity but has write performance penalties - use for archives and backups. Mixed resiliency combines mirror and parity in one volume, with hot data mirrored and cold data in parity.
• Cache settings accelerate reads/writes for hot data - S2D automatically configures cache if you have faster drives than your capacity drives. NVMe caches for SSD and HDD, SSD caches for HDD. Cache is split 50/50 between read and write by default. Write cache uses mirrored write-back for safety. Read cache uses single copy for maximum capacity. Monitor cache effectiveness with Get-ClusterPerf | Where Object -like "*Cache*". Typical cache hit rates exceed 80% for active workloads.
• Tailwind Traders uses S2D pools for Hyper-V VM storage - Tailwind deployed 4-node clusters with 2x NVMe (800GB each) and 4x SAS SSD (4TB each) per node. They created a single pool with 44TB usable capacity after three-way mirror. Created 20 volumes for different VM categories: Gold tier (all-flash, three-way mirror) for SQL, Silver tier (tiered, two-way mirror) for app servers, Bronze tier (parity) for file shares. Result: 2M IOPS for databases, 500K IOPS for general VMs, all managed through Windows Admin Center.
AZ-801 EXAM TIP: Know volume creation for the exam. PowerShell: New-Volume -FriendlyName "VMs" -FileSystem CSVFS_ReFS -StoragePoolFriendlyName S2D* -Size 10TB -ResiliencySettingName Mirror. WAC makes it point-and-click. Remember that CSVFS_ReFS is required for VMs (not just ReFS). Deduplication works on ReFS volumes in Server 2019+. If asked about capacity planning: two-way mirror = 50% usable, three-way mirror = 33% usable, dual parity = 60-80% usable depending on layout. Always leave 10-15% free space in the pool for rebuilds.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FRAMER: Let's wrap up with your complete S2D deployment checklist and key resources for real-world implementations and exam success.
The shortened URL go.techtrainertim.com/blah should point to:
- Storage Spaces Direct deployment guide
- S2D networking deep dive with RDMA configuration
- S2D calculator for capacity planning
- Windows Admin Center S2D management guide
- Cluster upgrade best practices documentation
Remember the S2D deployment sequence:
1. Validate hardware meets requirements (Test-Cluster -Include S2D)
2. Configure networking with RDMA and SET
3. Create the failover cluster
4. Enable Storage Spaces Direct (Enable-ClusterS2D)
5. Create volumes with appropriate resiliency
6. Monitor and maintain with Windows Admin Center
For the AZ-801 exam, focus on these key areas:
- Hardware requirements (minimum nodes, disks, network speed)
- RDMA configurations (RoCE vs iWARP requirements)  
- Resiliency options and capacity calculations
- Storage maintenance mode procedures
- Upgrade workflows for nodes and pools
Critical PowerShell cmdlets to memorize:
- Enable-ClusterS2D enables Storage Spaces Direct
- New-Volume creates CSV volumes on S2D
- Enter-StorageMaintenanceMode safely drains a node
- Get-StoragePool shows pool health and capacity
- Update-StoragePool upgrades pool version after cluster upgrade
Common S2D gotchas to remember:
- Only works with Datacenter Edition
- RDMA doesn't route - same subnet only
- Never drain multiple nodes simultaneously
- Cache drives can't be shared capacity drives
- Always maintain 10-15% free pool space
Performance expectations:
- 150K IOPS per node is typical
- 2-4 GB/s throughput per node with RDMA
- Sub-millisecond latency for cached operations
- 2-5 millisecond latency for capacity tier
Your CORP-CLUSTER could benefit from S2D:
- Your 4 CSVs could be replaced with S2D volumes
- HOST01 and HOST02 could contribute local disks
- SOFS-CORP would get better performance
- Simplified management through WAC</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Wed, 11/12/2025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11: Implement Storage Spaces Direct</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dirty="0"/>
              <a:t>11.1. Upgrade an S2D node </a:t>
            </a:r>
          </a:p>
          <a:p>
            <a:pPr>
              <a:spcBef>
                <a:spcPts val="200"/>
              </a:spcBef>
              <a:spcAft>
                <a:spcPts val="400"/>
              </a:spcAft>
            </a:pPr>
            <a:r>
              <a:rPr lang="en-US" dirty="0"/>
              <a:t>11.2. Implement networking for S2D </a:t>
            </a:r>
          </a:p>
          <a:p>
            <a:pPr>
              <a:spcBef>
                <a:spcPts val="200"/>
              </a:spcBef>
              <a:spcAft>
                <a:spcPts val="400"/>
              </a:spcAft>
            </a:pPr>
            <a:r>
              <a:rPr lang="en-US" dirty="0"/>
              <a:t>11.3. Configure S2D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11.1 Upgrade an S2D node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Understand Storage Spaces Direct</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Sell line: Transform local disks into enterprise-grade storage</a:t>
            </a:r>
          </a:p>
          <a:p>
            <a:r>
              <a:rPr lang="en-US" sz="1800" dirty="0"/>
              <a:t>Software-defined storage built into Windows Server</a:t>
            </a:r>
          </a:p>
          <a:p>
            <a:r>
              <a:rPr lang="en-US" sz="1800" dirty="0"/>
              <a:t>Aggregates internal disks across cluster nodes into shared pools</a:t>
            </a:r>
          </a:p>
          <a:p>
            <a:r>
              <a:rPr lang="en-US" sz="1800" dirty="0"/>
              <a:t>Provides high availability with automatic failover</a:t>
            </a:r>
          </a:p>
          <a:p>
            <a:r>
              <a:rPr lang="en-US" sz="1800" dirty="0"/>
              <a:t>Supports tiering, caching, mirroring, and parity</a:t>
            </a:r>
          </a:p>
          <a:p>
            <a:r>
              <a:rPr lang="en-US" sz="1800" dirty="0"/>
              <a:t>Adventure Works uses S2D to replace SANs with hyper-converged storage</a:t>
            </a:r>
          </a:p>
        </p:txBody>
      </p:sp>
    </p:spTree>
    <p:extLst>
      <p:ext uri="{BB962C8B-B14F-4D97-AF65-F5344CB8AC3E}">
        <p14:creationId xmlns:p14="http://schemas.microsoft.com/office/powerpoint/2010/main" val="1284431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Refresh S2D nodes without disrupting service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Storage maintenance mode safely drains data from a node</a:t>
            </a:r>
          </a:p>
          <a:p>
            <a:r>
              <a:rPr lang="en-US" sz="1800" dirty="0"/>
              <a:t>Data evacuation moves replicas before hardware/OS work</a:t>
            </a:r>
          </a:p>
          <a:p>
            <a:r>
              <a:rPr lang="en-US" sz="1800" dirty="0"/>
              <a:t>Rolling upgrades keep cluster online during refresh</a:t>
            </a:r>
          </a:p>
          <a:p>
            <a:r>
              <a:rPr lang="en-US" sz="1800" dirty="0"/>
              <a:t>Health monitoring ensures resiliency throughout process</a:t>
            </a:r>
          </a:p>
          <a:p>
            <a:r>
              <a:rPr lang="en-US" sz="1800" dirty="0" err="1"/>
              <a:t>Fabrikam</a:t>
            </a:r>
            <a:r>
              <a:rPr lang="en-US" sz="1800" dirty="0"/>
              <a:t> upgrades WS2019 nodes to WS2025 with no downtime</a:t>
            </a:r>
          </a:p>
        </p:txBody>
      </p:sp>
    </p:spTree>
    <p:extLst>
      <p:ext uri="{BB962C8B-B14F-4D97-AF65-F5344CB8AC3E}">
        <p14:creationId xmlns:p14="http://schemas.microsoft.com/office/powerpoint/2010/main" val="121735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11.2 Implement networking for S2D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00237" cy="463628"/>
          </a:xfrm>
        </p:spPr>
        <p:txBody>
          <a:bodyPr/>
          <a:lstStyle/>
          <a:p>
            <a:r>
              <a:rPr lang="en-US"/>
              <a:t>Optimize networking for high-throughput storage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RDMA (RoCE/</a:t>
            </a:r>
            <a:r>
              <a:rPr lang="en-US" sz="1800" dirty="0" err="1"/>
              <a:t>iWARP</a:t>
            </a:r>
            <a:r>
              <a:rPr lang="en-US" sz="1800" dirty="0"/>
              <a:t>) delivers low-latency storage traffic</a:t>
            </a:r>
          </a:p>
          <a:p>
            <a:r>
              <a:rPr lang="en-US" sz="1800" dirty="0"/>
              <a:t>Switch Embedded Teaming (SET) combines NICs for redundancy</a:t>
            </a:r>
          </a:p>
          <a:p>
            <a:r>
              <a:rPr lang="en-US" sz="1800" dirty="0"/>
              <a:t>Traffic separation isolates storage from client workloads</a:t>
            </a:r>
          </a:p>
          <a:p>
            <a:r>
              <a:rPr lang="en-US" sz="1800" dirty="0"/>
              <a:t>SMB Direct leverages RDMA for efficient storage ops</a:t>
            </a:r>
          </a:p>
          <a:p>
            <a:r>
              <a:rPr lang="en-US" sz="1800" dirty="0"/>
              <a:t>Contoso applies QoS policies to prioritize storage traffic</a:t>
            </a:r>
          </a:p>
        </p:txBody>
      </p:sp>
    </p:spTree>
    <p:extLst>
      <p:ext uri="{BB962C8B-B14F-4D97-AF65-F5344CB8AC3E}">
        <p14:creationId xmlns:p14="http://schemas.microsoft.com/office/powerpoint/2010/main" val="385285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11.3 </a:t>
            </a:r>
            <a:r>
              <a:rPr lang="en-US" sz="3600" dirty="0">
                <a:solidFill>
                  <a:srgbClr val="0978D8"/>
                </a:solidFill>
              </a:rPr>
              <a:t>Configure S2D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Build resilient storage pools with S2D</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Storage pools aggregate disks across cluster nodes</a:t>
            </a:r>
          </a:p>
          <a:p>
            <a:r>
              <a:rPr lang="en-US" sz="1800" dirty="0"/>
              <a:t>Tiering combines SSD and HDD for performance + capacity</a:t>
            </a:r>
          </a:p>
          <a:p>
            <a:r>
              <a:rPr lang="en-US" sz="1800" dirty="0"/>
              <a:t>Resiliency settings (mirror, parity) balance speed vs. efficiency</a:t>
            </a:r>
          </a:p>
          <a:p>
            <a:r>
              <a:rPr lang="en-US" sz="1800" dirty="0"/>
              <a:t>Cache settings accelerate reads/writes for </a:t>
            </a:r>
            <a:r>
              <a:rPr lang="en-US" sz="1800"/>
              <a:t>hot data</a:t>
            </a:r>
          </a:p>
          <a:p>
            <a:r>
              <a:rPr lang="en-US" sz="1800"/>
              <a:t>Tailwind </a:t>
            </a:r>
            <a:r>
              <a:rPr lang="en-US" sz="1800" dirty="0"/>
              <a:t>Traders uses S2D pools for Hyper-V VM storage</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4F3781FD-95DE-4C96-BE8C-1A6E23A106A4}"/>
</file>

<file path=customXml/itemProps2.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3.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34392</TotalTime>
  <Words>2910</Words>
  <Application>Microsoft Office PowerPoint</Application>
  <PresentationFormat>On-screen Show (16:9)</PresentationFormat>
  <Paragraphs>44</Paragraphs>
  <Slides>10</Slides>
  <Notes>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Understand Storage Spaces Direct</vt:lpstr>
      <vt:lpstr>Refresh S2D nodes without disrupting service</vt:lpstr>
      <vt:lpstr>PowerPoint Presentation</vt:lpstr>
      <vt:lpstr>Optimize networking for high-throughput storage</vt:lpstr>
      <vt:lpstr>PowerPoint Presentation</vt:lpstr>
      <vt:lpstr>Build resilient storage pools with S2D</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104</cp:revision>
  <dcterms:created xsi:type="dcterms:W3CDTF">2015-09-28T19:52:00Z</dcterms:created>
  <dcterms:modified xsi:type="dcterms:W3CDTF">2025-11-12T18:21:28Z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