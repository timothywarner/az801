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4"/>
  </p:sldMasterIdLst>
  <p:notesMasterIdLst>
    <p:notesMasterId r:id="rId19"/>
  </p:notesMasterIdLst>
  <p:sldIdLst>
    <p:sldId id="303" r:id="rId5"/>
    <p:sldId id="292" r:id="rId6"/>
    <p:sldId id="293" r:id="rId7"/>
    <p:sldId id="350" r:id="rId8"/>
    <p:sldId id="349" r:id="rId9"/>
    <p:sldId id="343" r:id="rId10"/>
    <p:sldId id="351" r:id="rId11"/>
    <p:sldId id="346" r:id="rId12"/>
    <p:sldId id="352" r:id="rId13"/>
    <p:sldId id="347" r:id="rId14"/>
    <p:sldId id="353" r:id="rId15"/>
    <p:sldId id="348" r:id="rId16"/>
    <p:sldId id="331" r:id="rId17"/>
    <p:sldId id="342"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4CB2919-E75C-EAE0-A7E3-E8766035CAC2}" name="Tim Warner" initials="TW" userId="1d9b2d89684621c1" providerId="Windows Live"/>
  <p188:author id="{955C4A35-E9B6-3146-066A-4404D53655C8}" name="scsjcain84" initials="sc" userId="S::scsjcain84_gmail.com#ext#@pearsoneducationinc.onmicrosoft.com::4399dd98-ee8b-4212-9001-7919755a3260"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onelson, Sean" initials="DS" lastIdx="8" clrIdx="0">
    <p:extLst>
      <p:ext uri="{19B8F6BF-5375-455C-9EA6-DF929625EA0E}">
        <p15:presenceInfo xmlns:p15="http://schemas.microsoft.com/office/powerpoint/2012/main" userId="S::sean.donelson@pearson.com::3e21d0a5-01a9-4113-9b92-c184675e923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A6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9D6428-A90A-43BF-989D-F13533CAE4D3}" v="6" dt="2025-10-19T21:46:12.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11" autoAdjust="0"/>
    <p:restoredTop sz="41595" autoAdjust="0"/>
  </p:normalViewPr>
  <p:slideViewPr>
    <p:cSldViewPr snapToGrid="0" snapToObjects="1">
      <p:cViewPr varScale="1">
        <p:scale>
          <a:sx n="43" d="100"/>
          <a:sy n="43" d="100"/>
        </p:scale>
        <p:origin x="2104" y="260"/>
      </p:cViewPr>
      <p:guideLst>
        <p:guide orient="horz" pos="1620"/>
        <p:guide pos="2880"/>
      </p:guideLst>
    </p:cSldViewPr>
  </p:slideViewPr>
  <p:outlineViewPr>
    <p:cViewPr>
      <p:scale>
        <a:sx n="33" d="100"/>
        <a:sy n="33" d="100"/>
      </p:scale>
      <p:origin x="0" y="-1756"/>
    </p:cViewPr>
  </p:outlineViewPr>
  <p:notesTextViewPr>
    <p:cViewPr>
      <p:scale>
        <a:sx n="100" d="100"/>
        <a:sy n="100" d="100"/>
      </p:scale>
      <p:origin x="0" y="0"/>
    </p:cViewPr>
  </p:notesTextViewPr>
  <p:sorterViewPr>
    <p:cViewPr>
      <p:scale>
        <a:sx n="150" d="100"/>
        <a:sy n="150" d="100"/>
      </p:scale>
      <p:origin x="0" y="0"/>
    </p:cViewPr>
  </p:sorterViewPr>
  <p:notesViewPr>
    <p:cSldViewPr snapToGrid="0" snapToObjects="1">
      <p:cViewPr varScale="1">
        <p:scale>
          <a:sx n="150" d="100"/>
          <a:sy n="150" d="100"/>
        </p:scale>
        <p:origin x="5840" y="16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34D36D-3512-6D44-83C8-1A4DB417EA2C}" type="datetimeFigureOut">
              <a:rPr lang="en-US" smtClean="0"/>
              <a:t>Sun, 10/26/2025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8BCB-A8D7-074E-AD53-2B9312150B6F}" type="slidenum">
              <a:rPr lang="en-US" smtClean="0"/>
              <a:t>‹#›</a:t>
            </a:fld>
            <a:endParaRPr lang="en-US"/>
          </a:p>
        </p:txBody>
      </p:sp>
    </p:spTree>
    <p:extLst>
      <p:ext uri="{BB962C8B-B14F-4D97-AF65-F5344CB8AC3E}">
        <p14:creationId xmlns:p14="http://schemas.microsoft.com/office/powerpoint/2010/main" val="4018348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Welcome to Lesson 25 - our final troubleshooting deep-dive for AZ-801. This lesson covers five advanced troubleshooting objectives that span hybrid environments, Azure Arc, and storage systems. The exam loves testing your ability to diagnose complex problems using logs, diagnostic tools, and PowerShell. These objectives show up in scenario questions where you need to identify root causes and implement fixes.</a:t>
            </a:r>
          </a:p>
          <a:p>
            <a:endParaRPr/>
          </a:p>
          <a:p>
            <a:r>
              <a:t>25.1. Troubleshoot performance issues: Performance troubleshooting using Performance Monitor counters, Data Collector Sets, and System Insights forecasting. The exam tests your ability to identify CPU, memory, disk, and network bottlenecks using specific counter thresholds.</a:t>
            </a:r>
          </a:p>
          <a:p>
            <a:endParaRPr/>
          </a:p>
          <a:p>
            <a:r>
              <a:t>25.2. Troubleshoot VM and Azure Arc extension issues: VM agent problems and Azure Arc extension failures. You need to know Azure Resource Health, extension logs, and how to validate Arc connectivity through Log Analytics heartbeats.</a:t>
            </a:r>
          </a:p>
          <a:p>
            <a:endParaRPr/>
          </a:p>
          <a:p>
            <a:r>
              <a:t>25.3. Troubleshoot disk encryption issues: BitLocker and Azure Disk Encryption problems including manage-bde commands, Key Vault access, and encryption extension logs. The exam tests key rotation scenarios and protector status verification.</a:t>
            </a:r>
          </a:p>
          <a:p>
            <a:endParaRPr/>
          </a:p>
          <a:p>
            <a:r>
              <a:t>25.4. Troubleshoot storage: Storage Spaces Direct health checks, cluster shared volume status, and Azure managed disk diagnostics. This includes PowerShell troubleshooting for S2D and understanding IOPS/throughput limits.</a:t>
            </a:r>
          </a:p>
          <a:p>
            <a:endParaRPr/>
          </a:p>
          <a:p>
            <a:r>
              <a:t>25.5 Troubleshoot Azure Arc server extension issues: Arc-managed extension failures including log locations, policy conflicts, and Connected Machine Agent service troubleshooting. This is new content focused on hybrid server management.</a:t>
            </a:r>
          </a:p>
          <a:p>
            <a:endParaRPr/>
          </a:p>
          <a:p>
            <a:r>
              <a:t>AZ-801 EXAM TIP: Troubleshooting questions always provide symptoms (slow performance, failed deployment, connectivity loss) and ask you to identify the root cause or next troubleshooting step. Know your diagnostic tools and where to find logs - the exam tests tool selection as much as problem resolution.</a:t>
            </a:r>
          </a:p>
        </p:txBody>
      </p:sp>
      <p:sp>
        <p:nvSpPr>
          <p:cNvPr id="4" name="Slide Number Placeholder 3"/>
          <p:cNvSpPr>
            <a:spLocks noGrp="1"/>
          </p:cNvSpPr>
          <p:nvPr>
            <p:ph type="sldNum" sz="quarter" idx="5"/>
          </p:nvPr>
        </p:nvSpPr>
        <p:spPr/>
        <p:txBody>
          <a:bodyPr/>
          <a:lstStyle/>
          <a:p>
            <a:fld id="{163C8BCB-A8D7-074E-AD53-2B9312150B6F}" type="slidenum">
              <a:rPr lang="en-US" smtClean="0"/>
              <a:t>2</a:t>
            </a:fld>
            <a:endParaRPr lang="en-US"/>
          </a:p>
        </p:txBody>
      </p:sp>
    </p:spTree>
    <p:extLst>
      <p:ext uri="{BB962C8B-B14F-4D97-AF65-F5344CB8AC3E}">
        <p14:creationId xmlns:p14="http://schemas.microsoft.com/office/powerpoint/2010/main" val="1059358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Advanced troubleshooting goes beyond basic service restarts and reboots. We're talking about complex scenarios that span on-premises and Azure environments, require deep log analysis, and involve multiple interrelated systems. The exam tests structured troubleshooting methodology - not just guessing.</a:t>
            </a:r>
          </a:p>
          <a:p>
            <a:endParaRPr/>
          </a:p>
          <a:p>
            <a:r>
              <a:t>Beyond core services, advanced issues include performance, VM extensions, disk encryption, and storage: Core services like DNS, DHCP, and Active Directory are foundational - we've covered those in earlier lessons. Advanced issues involve layered technologies: VM extensions that depend on agents, disk encryption tied to Key Vault access, storage systems with cluster dependencies, and Arc extensions requiring policy alignment. The exam tests whether you understand dependencies between components.</a:t>
            </a:r>
          </a:p>
          <a:p>
            <a:endParaRPr/>
          </a:p>
          <a:p>
            <a:r>
              <a:t>Problems often span on-premises and Azure environments: Hybrid troubleshooting is different from pure on-premises or pure cloud scenarios. You might have on-premises servers managed by Azure Arc experiencing extension failures due to firewall rules. Or Azure VMs with encrypted disks failing to boot because Key Vault access was revoked. The exam loves hybrid scenarios where the problem spans multiple environments and you need to trace the issue across boundaries.</a:t>
            </a:r>
          </a:p>
          <a:p>
            <a:endParaRPr/>
          </a:p>
          <a:p>
            <a:r>
              <a:t>Requires deeper use of logs, diagnostic tools, and PowerShell: GUI tools only get you so far. Advanced troubleshooting requires reading extension logs in ProgramData folders, analyzing Performance Monitor counter data, running PowerShell diagnostics for Storage Spaces Direct, and using manage-bde to check BitLocker protector status. The exam tests your knowledge of log locations and PowerShell diagnostic cmdlets.</a:t>
            </a:r>
          </a:p>
          <a:p>
            <a:endParaRPr/>
          </a:p>
          <a:p>
            <a:r>
              <a:t>Structured troubleshooting shortens mean time to recovery: Random troubleshooting wastes time. Structured methodology means starting with health checks, checking logs, isolating variables, and testing one change at a time. The exam often presents scenarios where multiple issues exist - you need to know which diagnostic step comes first.</a:t>
            </a:r>
          </a:p>
          <a:p>
            <a:endParaRPr/>
          </a:p>
          <a:p>
            <a:r>
              <a:t>Contoso escalates advanced issues to Tier 3 with clear runbooks: Tier 1 handles password resets and basic connectivity. Tier 2 handles service restarts and common fixes. Tier 3 tackles the complex stuff - extension failures, encryption problems, storage outages. Runbooks document the exact diagnostic steps and PowerShell commands for each issue type. The exam tests whether you know the right tool sequence for different problem categories.</a:t>
            </a:r>
          </a:p>
          <a:p>
            <a:endParaRPr/>
          </a:p>
          <a:p>
            <a:r>
              <a:t>AZ-801 EXAM TIP: The exam tests troubleshooting methodology as much as technical knowledge. When presented with a problem scenario, the correct answer is often the diagnostic step that narrows down the root cause - not the final fix. For example, if a VM won't boot after enabling encryption, the exam wants you to check BitLocker protector status with manage-bde before attempting a key rotation or VM replacement.</a:t>
            </a:r>
          </a:p>
        </p:txBody>
      </p:sp>
      <p:sp>
        <p:nvSpPr>
          <p:cNvPr id="4" name="Slide Number Placeholder 3"/>
          <p:cNvSpPr>
            <a:spLocks noGrp="1"/>
          </p:cNvSpPr>
          <p:nvPr>
            <p:ph type="sldNum" sz="quarter" idx="5"/>
          </p:nvPr>
        </p:nvSpPr>
        <p:spPr/>
        <p:txBody>
          <a:bodyPr/>
          <a:lstStyle/>
          <a:p>
            <a:fld id="{163C8BCB-A8D7-074E-AD53-2B9312150B6F}" type="slidenum">
              <a:rPr lang="en-US" smtClean="0"/>
              <a:t>4</a:t>
            </a:fld>
            <a:endParaRPr lang="en-US"/>
          </a:p>
        </p:txBody>
      </p:sp>
    </p:spTree>
    <p:extLst>
      <p:ext uri="{BB962C8B-B14F-4D97-AF65-F5344CB8AC3E}">
        <p14:creationId xmlns:p14="http://schemas.microsoft.com/office/powerpoint/2010/main" val="4285643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FRAMER: Performance troubleshooting is about identifying which resource is the constraint - CPU, memory, disk, or network. The exam tests your knowledge of Performance Monitor counters and specific thresholds that indicate bottlenecks.</a:t>
            </a:r>
          </a:p>
          <a:p>
            <a:endParaRPr dirty="0"/>
          </a:p>
          <a:p>
            <a:r>
              <a:rPr dirty="0"/>
              <a:t>Use Performance Monitor counters to isolate CPU, memory, disk, or network bottlenecks: Performance Monitor (perfmon.exe) has hundreds of counters, but the exam focuses on 18 key counters across four resource types. For CPU: Processor Information% Processor Time, % User Time, % Privileged Time, and System\Processor Queue Length. For memory: Memory\Available </a:t>
            </a:r>
            <a:r>
              <a:rPr dirty="0" err="1"/>
              <a:t>MBytes</a:t>
            </a:r>
            <a:r>
              <a:rPr dirty="0"/>
              <a:t>, % Committed Bytes In Use, Pool Paged Bytes, and Pool Nonpaged Bytes. For disk: </a:t>
            </a:r>
            <a:r>
              <a:rPr dirty="0" err="1"/>
              <a:t>LogicalDisk</a:t>
            </a:r>
            <a:r>
              <a:rPr dirty="0"/>
              <a:t>% Disk Time, Avg. Disk Queue Length, and Disk Transfers/sec. For network: Network Interface\Bytes Total/sec and Current Bandwidth. The exam tests which counter to use for specific symptoms.</a:t>
            </a:r>
          </a:p>
          <a:p>
            <a:endParaRPr dirty="0"/>
          </a:p>
          <a:p>
            <a:r>
              <a:rPr dirty="0"/>
              <a:t>Compare against baselines to detect anomalies: A baseline captures normal performance during typical workload periods. You collect Performance Monitor data for 7-30 days, analyze averages and peaks, and establish healthy ranges. Without a baseline, you can't tell if 60% CPU usage is normal or a problem. The exam presents scenarios where performance degraded over time - the answer often involves comparing current metrics against baseline data to identify the delta.</a:t>
            </a:r>
          </a:p>
          <a:p>
            <a:endParaRPr dirty="0"/>
          </a:p>
          <a:p>
            <a:r>
              <a:rPr dirty="0"/>
              <a:t>Data Collector Sets provide long-term visibility: Data Collector Sets (DCS) automate Performance Monitor data collection. You define which counters to collect, sampling intervals (every 15 seconds is common), and file size limits. The DCS runs continuously in the background, writing .</a:t>
            </a:r>
            <a:r>
              <a:rPr dirty="0" err="1"/>
              <a:t>blg</a:t>
            </a:r>
            <a:r>
              <a:rPr dirty="0"/>
              <a:t> files that you analyze later. The exam tests DCS configuration and how to create scheduled collection for troubleshooting intermittent performance problems that don't occur during business hours.</a:t>
            </a:r>
          </a:p>
          <a:p>
            <a:endParaRPr dirty="0"/>
          </a:p>
          <a:p>
            <a:r>
              <a:rPr dirty="0"/>
              <a:t>System Insights forecasts resource shortfalls: System Insights is a Windows Server 2019/2022 feature that uses machine learning to predict future resource exhaustion. It analyzes Performance Monitor data and forecasts when you'll run out of CPU, memory, or disk capacity. Predictions include confidence scores showing accuracy likelihood. The exam tests System Insights capabilities like predicting volume capacity exhaustion 30 days in advance with 85% confidence.</a:t>
            </a:r>
          </a:p>
          <a:p>
            <a:endParaRPr dirty="0"/>
          </a:p>
          <a:p>
            <a:r>
              <a:rPr dirty="0" err="1"/>
              <a:t>Fabrikam</a:t>
            </a:r>
            <a:r>
              <a:rPr dirty="0"/>
              <a:t> resolves SQL latency by tracing disk I/O bottlenecks: SQL Server users report slow query response times - queries taking 5-10 seconds that should complete in under 1 second. Performance Monitor shows </a:t>
            </a:r>
            <a:r>
              <a:rPr dirty="0" err="1"/>
              <a:t>LogicalDisk</a:t>
            </a:r>
            <a:r>
              <a:rPr dirty="0"/>
              <a:t>\Avg. Disk Sec/Read at 45ms (critical threshold is &gt;15ms). Disk queue length averages 12 when it should be under 2. This points to disk I/O bottleneck. </a:t>
            </a:r>
            <a:r>
              <a:rPr dirty="0" err="1"/>
              <a:t>Fabrikam</a:t>
            </a:r>
            <a:r>
              <a:rPr dirty="0"/>
              <a:t> upgrades to Premium SSD with higher IOPS and latency drops to 3ms. Query performance returns to normal.</a:t>
            </a:r>
          </a:p>
          <a:p>
            <a:endParaRPr dirty="0"/>
          </a:p>
          <a:p>
            <a:r>
              <a:rPr dirty="0"/>
              <a:t>AZ-801 EXAM TIP: Know the healthy/warning/critical thresholds for key performance counters. Processor % Processor Time: Healthy &lt;50%, Warning 50-80%, Critical &gt;80%. Memory Available </a:t>
            </a:r>
            <a:r>
              <a:rPr dirty="0" err="1"/>
              <a:t>MBytes</a:t>
            </a:r>
            <a:r>
              <a:rPr dirty="0"/>
              <a:t>: Healthy &gt;10% of total RAM, Warning &lt;10%, Critical &lt;500MB. </a:t>
            </a:r>
            <a:r>
              <a:rPr dirty="0" err="1"/>
              <a:t>LogicalDisk</a:t>
            </a:r>
            <a:r>
              <a:rPr dirty="0"/>
              <a:t> Avg. Disk Sec/Read: Healthy &lt;10ms, Warning 10-15ms, Critical &gt;15ms. System Processor Queue Length: Healthy &lt;2 per core, Critical &gt;2 per core sustained. The exam tests whether you can interpret counter values and identify bottlenecks.</a:t>
            </a:r>
          </a:p>
        </p:txBody>
      </p:sp>
      <p:sp>
        <p:nvSpPr>
          <p:cNvPr id="4" name="Slide Number Placeholder 3"/>
          <p:cNvSpPr>
            <a:spLocks noGrp="1"/>
          </p:cNvSpPr>
          <p:nvPr>
            <p:ph type="sldNum" sz="quarter" idx="5"/>
          </p:nvPr>
        </p:nvSpPr>
        <p:spPr/>
        <p:txBody>
          <a:bodyPr/>
          <a:lstStyle/>
          <a:p>
            <a:fld id="{163C8BCB-A8D7-074E-AD53-2B9312150B6F}" type="slidenum">
              <a:rPr lang="en-US" smtClean="0"/>
              <a:t>5</a:t>
            </a:fld>
            <a:endParaRPr lang="en-US"/>
          </a:p>
        </p:txBody>
      </p:sp>
    </p:spTree>
    <p:extLst>
      <p:ext uri="{BB962C8B-B14F-4D97-AF65-F5344CB8AC3E}">
        <p14:creationId xmlns:p14="http://schemas.microsoft.com/office/powerpoint/2010/main" val="19479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VM extensions depend on underlying agents - the Azure VM Agent for Azure VMs or the Azure Connected Machine Agent for Arc-enabled servers. Extension failures often trace back to agent connectivity problems or corrupted extension state. The exam tests systematic troubleshooting from agent health through extension logs.</a:t>
            </a:r>
          </a:p>
          <a:p>
            <a:endParaRPr/>
          </a:p>
          <a:p>
            <a:r>
              <a:t>Check Azure Resource Health and VM agent logs: Azure Resource Health (portal.azure.com &gt; Virtual Machines &gt; Resource Health) shows platform-level problems like host failures or planned maintenance. VM agent logs are in C:\WindowsAzure\Logs\WaAppAgent.log for Azure VMs. For Arc servers, check %ProgramData%\AzureConnectedMachineAgent\Log\himds.log for heartbeat and connectivity issues. The exam tests knowing which log file contains which diagnostic information.</a:t>
            </a:r>
          </a:p>
          <a:p>
            <a:endParaRPr/>
          </a:p>
          <a:p>
            <a:r>
              <a:t>Validate extension installation status in Azure portal: Navigate to Virtual Machines &gt; Extensions + applications. Each extension shows Provisioning State (Succeeded, Failed, Updating). Failed extensions display error messages. The exam presents scenarios where extensions show "Succeeded" in the portal but aren't working - you need to check extension-specific logs for runtime errors versus deployment errors.</a:t>
            </a:r>
          </a:p>
          <a:p>
            <a:endParaRPr/>
          </a:p>
          <a:p>
            <a:r>
              <a:t>Restart extension services or reapply deployment: For Azure VMs, restart the Windows Azure Guest Agent service (WindowsAzureGuestAgent.exe). For Arc servers, restart the Azure Connected Machine Agent service using PowerShell: Restart-Service himds, gcad, extd. If restart doesn't resolve the issue, remove and reinstall the extension through the portal or Azure CLI. The exam tests whether you know to restart services before attempting full extension removal.</a:t>
            </a:r>
          </a:p>
          <a:p>
            <a:endParaRPr/>
          </a:p>
          <a:p>
            <a:r>
              <a:t>Confirm Arc connectivity via Log Analytics heartbeat: Arc extensions require continuous connectivity to Azure. Use Log Analytics Workspace to verify heartbeat: run query "Heartbeat | where Computer == 'servername' | sort by TimeGenerated desc | take 10". If no heartbeat in past 15 minutes, the Connected Machine Agent isn't communicating with Azure. Check firewall rules for outbound HTTPS to *.azure.com endpoints. The exam tests heartbeat verification as first diagnostic step for Arc extension failures.</a:t>
            </a:r>
          </a:p>
          <a:p>
            <a:endParaRPr/>
          </a:p>
          <a:p>
            <a:r>
              <a:t>Tailwind Traders resolves monitoring gaps by reinstalling Arc agent: Tailwind's monitoring dashboard shows 50 on-premises servers missing performance data for 24 hours. Azure Arc portal shows servers as "Connected" but no monitoring extension data flowing. Checking extension logs reveals monitoring agent in "Failed" state. Uninstall and reinstall the Microsoft.Azure.Monitor extension through Azure CLI: az connectedmachine extension delete then az connectedmachine extension create. Extensions reinstall successfully, monitoring data resumes within 5 minutes.</a:t>
            </a:r>
          </a:p>
          <a:p>
            <a:endParaRPr/>
          </a:p>
          <a:p>
            <a:r>
              <a:t>AZ-801 EXAM TIP: The exam tests extension log locations. For Azure VMs: extension logs in C:\Packages\Plugins\[PublisherName].[ExtensionName]\[Version]\. For Arc servers: extension logs in %ProgramData%\GuestConfig\extension_logs\[ExtensionName]. Extension manager logs in %ProgramData%\GuestConfig\ext_mgr_logs\gc_ext.log show install/uninstall events. Know which log provides which information - extension manager for deployment issues, extension-specific logs for runtime problems.</a:t>
            </a:r>
          </a:p>
        </p:txBody>
      </p:sp>
      <p:sp>
        <p:nvSpPr>
          <p:cNvPr id="4" name="Slide Number Placeholder 3"/>
          <p:cNvSpPr>
            <a:spLocks noGrp="1"/>
          </p:cNvSpPr>
          <p:nvPr>
            <p:ph type="sldNum" sz="quarter" idx="5"/>
          </p:nvPr>
        </p:nvSpPr>
        <p:spPr/>
        <p:txBody>
          <a:bodyPr/>
          <a:lstStyle/>
          <a:p>
            <a:fld id="{163C8BCB-A8D7-074E-AD53-2B9312150B6F}" type="slidenum">
              <a:rPr lang="en-US" smtClean="0"/>
              <a:t>7</a:t>
            </a:fld>
            <a:endParaRPr lang="en-US"/>
          </a:p>
        </p:txBody>
      </p:sp>
    </p:spTree>
    <p:extLst>
      <p:ext uri="{BB962C8B-B14F-4D97-AF65-F5344CB8AC3E}">
        <p14:creationId xmlns:p14="http://schemas.microsoft.com/office/powerpoint/2010/main" val="38237222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Disk encryption troubleshooting combines Windows BitLocker knowledge with Azure Key Vault access management. The exam tests your ability to diagnose boot failures, verify protector status, and resolve Key Vault connectivity issues.</a:t>
            </a:r>
          </a:p>
          <a:p>
            <a:endParaRPr/>
          </a:p>
          <a:p>
            <a:r>
              <a:t>Verify BitLocker protector status with manage-bde: manage-bde is the BitLocker command-line tool. Run "manage-bde -status C:" to check encryption status, protector types, and Key Vault information. Healthy BitLocker shows "Encryption Method: XTS-AES 256", "Percentage Encrypted: 100%", and "Key Protectors: External Key" pointing to Key Vault. The exam tests interpreting manage-bde output to identify problems like suspended protection or missing key protectors.</a:t>
            </a:r>
          </a:p>
          <a:p>
            <a:endParaRPr/>
          </a:p>
          <a:p>
            <a:r>
              <a:t>Check Azure Disk Encryption extension logs for errors: Azure Disk Encryption extension logs are in C:\WindowsAzure\Logs\Plugins\Microsoft.Azure.Security.AzureDiskEncryption\[Version]\CommandExecution.log. Common errors include "Failed to send DiskEncryptionData" indicating Key Vault connectivity problems, "Key Encryption Key not found" when KEK is deleted, and "Insufficient permissions" for Key Vault access policy issues. The exam tests matching error messages to root causes.</a:t>
            </a:r>
          </a:p>
          <a:p>
            <a:endParaRPr/>
          </a:p>
          <a:p>
            <a:r>
              <a:t>Confirm Key Vault access and permissions: Azure Disk Encryption requires Key Vault advanced access policies enabled: "Azure Disk Encryption for volume encryption". The VM's managed identity or encryption extension needs Key Vault permissions: Get, WrapKey, UnwrapKey for keys; Get, Set for secrets. Use Azure Portal &gt; Key Vault &gt; Access Policies to verify. The exam tests scenarios where encryption fails due to missing Key Vault permissions or firewall rules blocking VM-to-Key Vault communication.</a:t>
            </a:r>
          </a:p>
          <a:p>
            <a:endParaRPr/>
          </a:p>
          <a:p>
            <a:r>
              <a:t>Rotate keys to resolve corruption or mismatch: If BitLocker recovery key in Key Vault doesn't match the disk protector, boot failures occur. Key rotation involves: 1) Verify Key Vault contains the correct key, 2) Remove old BitLocker protector with manage-bde -protectors -delete, 3) Add new protector with manage-bde -protectors -add pointing to updated Key Vault key, 4) Resume encryption if suspended. The exam tests key rotation scenarios where keys were accidentally deleted or Key Vault access was temporarily lost.</a:t>
            </a:r>
          </a:p>
          <a:p>
            <a:endParaRPr/>
          </a:p>
          <a:p>
            <a:r>
              <a:t>Adventure Works restores access by reattaching Key Vault to VM: Adventure Works encrypted VM won't boot after Key Vault firewall rules were modified to block non-Azure traffic. The encryption extension can't reach Key Vault to retrieve BitLocker recovery key. Solution: 1) Attach encrypted OS disk to recovery VM in same VNet with Key Vault access, 2) Retrieve BEK file from Key Vault using PowerShell: Get-AzKeyVaultSecret, 3) Unlock disk with manage-bde -unlock using BEK file, 4) Update Key Vault firewall to allow VM subnet or use private endpoint, 5) Reattach disk to original VM. VM boots successfully after Key Vault connectivity restored.</a:t>
            </a:r>
          </a:p>
          <a:p>
            <a:endParaRPr/>
          </a:p>
          <a:p>
            <a:r>
              <a:t>AZ-801 EXAM TIP: The exam tests BitLocker protector types and encryption states. Protector types: "External Key" stores BEK in Key Vault (required for Azure), "TPM" uses Trusted Platform Module, "RecoveryPassword" is the 48-digit numerical key. Encryption states: "Fully Encrypted" is normal, "Encryption In Progress" shows percentage complete, "Suspended" means protection temporarily disabled, "Decryption In Progress" shows BitLocker being removed. Know that Azure Disk Encryption doesn't store recovery keys - they're always in Key Vault, so Key Vault availability is critical for encrypted VM boot.</a:t>
            </a:r>
          </a:p>
        </p:txBody>
      </p:sp>
      <p:sp>
        <p:nvSpPr>
          <p:cNvPr id="4" name="Slide Number Placeholder 3"/>
          <p:cNvSpPr>
            <a:spLocks noGrp="1"/>
          </p:cNvSpPr>
          <p:nvPr>
            <p:ph type="sldNum" sz="quarter" idx="5"/>
          </p:nvPr>
        </p:nvSpPr>
        <p:spPr/>
        <p:txBody>
          <a:bodyPr/>
          <a:lstStyle/>
          <a:p>
            <a:fld id="{163C8BCB-A8D7-074E-AD53-2B9312150B6F}" type="slidenum">
              <a:rPr lang="en-US" smtClean="0"/>
              <a:t>9</a:t>
            </a:fld>
            <a:endParaRPr lang="en-US"/>
          </a:p>
        </p:txBody>
      </p:sp>
    </p:spTree>
    <p:extLst>
      <p:ext uri="{BB962C8B-B14F-4D97-AF65-F5344CB8AC3E}">
        <p14:creationId xmlns:p14="http://schemas.microsoft.com/office/powerpoint/2010/main" val="2448060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Storage troubleshooting spans two distinct platforms - on-premises Storage Spaces Direct and Azure managed disks. Both have their own diagnostic tools and common failure modes. The exam tests PowerShell diagnostics and understanding storage performance limits.</a:t>
            </a:r>
          </a:p>
          <a:p>
            <a:endParaRPr/>
          </a:p>
          <a:p>
            <a:r>
              <a:t>Check Storage Spaces Direct (S2D) health with PowerShell: Storage Spaces Direct aggregates local disks across cluster nodes into a resilient storage pool. Use Get-StorageSubSystem to check health status (should show "Healthy"), Get-StorageNode to verify all nodes are "Up", Get-PhysicalDisk to check disk status (no "Lost Communication" or "Failed" disks), and Get-StoragePool to verify pool operational status. The exam tests interpreting S2D health output and identifying failed components.</a:t>
            </a:r>
          </a:p>
          <a:p>
            <a:endParaRPr/>
          </a:p>
          <a:p>
            <a:r>
              <a:t>Validate cluster shared volume (CSV) status: Cluster Shared Volumes provide shared access to storage across cluster nodes. Use Get-ClusterSharedVolume to verify CSV state (should be "Online"), Get-ClusterSharedVolumeState to check which node owns CSV I/O, and Get-ClusterResource to verify storage resources. CSV redirection to another node due to connectivity loss is common - check network between cluster nodes. The exam tests CSV troubleshooting including determining why I/O redirected to suboptimal node path.</a:t>
            </a:r>
          </a:p>
          <a:p>
            <a:endParaRPr/>
          </a:p>
          <a:p>
            <a:r>
              <a:t>In Azure, confirm managed disk state and storage account health: Azure Portal &gt; Disks shows disk state (Attached, Unattached, Reserved). Disk metrics reveal IOPS throttling or latency spikes. For storage accounts, check health status and review diagnostic logs for throttling errors (HTTP 503). Azure Resource Health shows platform issues like datacenter failures. The exam tests distinguishing between disk-level problems (single VM) versus storage account problems (multiple VMs) versus region-wide Azure issues.</a:t>
            </a:r>
          </a:p>
          <a:p>
            <a:endParaRPr/>
          </a:p>
          <a:p>
            <a:r>
              <a:t>Review IOPS and throughput limits for performance issues: Azure managed disks have performance limits based on size and type. Standard HDD: 500 IOPS, 60 MB/s. Standard SSD: up to 6,000 IOPS, 750 MB/s. Premium SSD: up to 20,000 IOPS, 900 MB/s. Ultra Disk: up to 160,000 IOPS, 4,000 MB/s. Exceeding limits causes throttling shown in disk metrics as 100% I/O wait. The exam tests identifying throttling and recommending disk upgrades or adding multiple disks with striping.</a:t>
            </a:r>
          </a:p>
          <a:p>
            <a:endParaRPr/>
          </a:p>
          <a:p>
            <a:r>
              <a:t>Fabrikam resolves outage by replacing failed S2D node: Fabrikam's Storage Spaces Direct cluster shows degraded resilience - storage pool health is "Warning" instead of "Healthy". Get-PhysicalDisk reveals Node02 has 4 disks in "Lost Communication" state. Cluster logs show Node02 experienced motherboard failure. Solution: 1) Remove Node02 from cluster using Remove-ClusterNode, 2) Storage pool automatically rebalances data to remaining nodes (takes 2-4 hours depending on data size), 3) Replace Node02 hardware, 4) Add repaired node back to cluster with Add-ClusterNode, 5) Storage pool health returns to "Healthy" after resync completes. Total downtime: zero - cluster remained operational with 2 of 3 nodes.</a:t>
            </a:r>
          </a:p>
          <a:p>
            <a:endParaRPr/>
          </a:p>
          <a:p>
            <a:r>
              <a:t>AZ-801 EXAM TIP: The exam tests Storage Spaces Direct resiliency and rebuild behavior. Three-way mirror tolerates 2 node failures without data loss. Parity (similar to RAID 5) tolerates 1 node failure. Rebuild time depends on data size and network bandwidth - 1TB of data takes approximately 4-6 hours over 10GbE network. Know that S2D automatically redistributes data when nodes fail - no manual intervention needed unless you're removing the node permanently. For Azure disks, know that Premium SSD has single-instance SLA of 99.9% and provisioned IOPS/throughput are guaranteed - throttling only occurs if you exceed the provisioned amounts.</a:t>
            </a:r>
          </a:p>
        </p:txBody>
      </p:sp>
      <p:sp>
        <p:nvSpPr>
          <p:cNvPr id="4" name="Slide Number Placeholder 3"/>
          <p:cNvSpPr>
            <a:spLocks noGrp="1"/>
          </p:cNvSpPr>
          <p:nvPr>
            <p:ph type="sldNum" sz="quarter" idx="5"/>
          </p:nvPr>
        </p:nvSpPr>
        <p:spPr/>
        <p:txBody>
          <a:bodyPr/>
          <a:lstStyle/>
          <a:p>
            <a:fld id="{163C8BCB-A8D7-074E-AD53-2B9312150B6F}" type="slidenum">
              <a:rPr lang="en-US" smtClean="0"/>
              <a:t>11</a:t>
            </a:fld>
            <a:endParaRPr lang="en-US"/>
          </a:p>
        </p:txBody>
      </p:sp>
    </p:spTree>
    <p:extLst>
      <p:ext uri="{BB962C8B-B14F-4D97-AF65-F5344CB8AC3E}">
        <p14:creationId xmlns:p14="http://schemas.microsoft.com/office/powerpoint/2010/main" val="4140243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FRAMER: Azure Arc extensions bring Azure management capabilities to on-premises and multi-cloud servers. Extension failures require understanding the Connected Machine Agent architecture, log locations, and policy dependencies. This is exam-focused content for hybrid server management.</a:t>
            </a:r>
          </a:p>
          <a:p>
            <a:endParaRPr/>
          </a:p>
          <a:p>
            <a:r>
              <a:t>Review extension logs under C:\ProgramData\AzureConnectedMachineAgent: Connected Machine Agent creates multiple log files. himds.log contains heartbeat and identity token information - check here for connectivity failures. azcmagent.log shows output from azcmagent CLI commands - useful for troubleshooting registration issues. GuestConfig_x0007_rc_policy_logs\gc_agent.log records policy evaluation and compliance. GuestConfig\ext_mgr_logs\gc_ext.log shows extension install, upgrade, and remove events. GuestConfig\extension_logs contains individual extension logs. The exam tests knowing which log file provides which diagnostic data.</a:t>
            </a:r>
          </a:p>
          <a:p>
            <a:endParaRPr/>
          </a:p>
          <a:p>
            <a:r>
              <a:t>Check policy assignments for conflicts or missing dependencies: Azure Arc uses Azure Policy Guest Configuration to deploy extensions and enforce compliance. Policy conflicts occur when multiple policies try to manage the same extension with different settings. Use Azure Portal &gt; Policy &gt; Assignments to review policies targeting the Arc server. Check Policy &gt; Compliance to see if policy evaluation failed. The exam tests identifying policy conflicts and understanding precedence rules when multiple policies apply.</a:t>
            </a:r>
          </a:p>
          <a:p>
            <a:endParaRPr/>
          </a:p>
          <a:p>
            <a:r>
              <a:t>Restart Connected Machine Agent service if unresponsive: The Azure Connected Machine Agent runs three Windows services: himds (Hybrid Instance Metadata Service - main agent), gcad (Guest Configuration Arc Service - policy enforcement), extd (Extension Service - extension management). Use PowerShell: Restart-Service himds, gcad, extd. If services won't start, check Windows Event Logs for service crash details. The exam tests knowing which service handles which function and troubleshooting service startup failures.</a:t>
            </a:r>
          </a:p>
          <a:p>
            <a:endParaRPr/>
          </a:p>
          <a:p>
            <a:r>
              <a:t>Reinstall problematic extensions through Azure portal or CLI: Extension corruption can't always be fixed by service restart. Remove the extension completely: az connectedmachine extension delete --machine-name servername --resource-group rg --name extensionname. Then reinstall: az connectedmachine extension create with appropriate parameters. Azure Portal alternative: navigate to Arc server &gt; Extensions, select the extension, click Remove, wait for removal to complete, then Add Extension. The exam tests clean reinstall as resolution for persistent extension failures.</a:t>
            </a:r>
          </a:p>
          <a:p>
            <a:endParaRPr/>
          </a:p>
          <a:p>
            <a:r>
              <a:t>Contoso resolves drift by redeploying monitoring extensions via Arc policy: Contoso deployed monitoring extensions to 200 Arc servers using Azure Policy. After several months, 15 servers show "Extensions" count as 0 in Azure Portal - monitoring extensions disappeared. Manual checks reveal extensions were accidentally uninstalled during server maintenance. Rather than manually reinstalling on each server, Contoso triggers policy remediation task in Azure Portal &gt; Policy &gt; Remediation. Policy engine detects missing extensions and automatically redeploys them across all non-compliant servers within 30 minutes. Monitoring data resumes flowing to Log Analytics workspace.</a:t>
            </a:r>
          </a:p>
          <a:p>
            <a:endParaRPr/>
          </a:p>
          <a:p>
            <a:r>
              <a:t>AZ-801 EXAM TIP: The exam tests Azure Arc agent connectivity requirements and firewall rules. The Connected Machine Agent requires outbound HTTPS (port 443) to several Azure endpoints: management.azure.com (ARM API), login.microsoftonline.com (authentication), guestconfiguration.azure.com (policy), his.arc.azure.com (hybrid identity), *.guestconfiguration.azure.com (extension downloads), *.blob.core.windows.net (agent updates). Proxy servers are supported via azcmagent config set proxy.url. Know that Arc servers show "Connected" status with heartbeat within last 5 minutes, "Disconnected" if no heartbeat for 5+ minutes but less than 7 days, "Expired" if no heartbeat for 7+ days requiring agent reinstallation.</a:t>
            </a:r>
          </a:p>
        </p:txBody>
      </p:sp>
      <p:sp>
        <p:nvSpPr>
          <p:cNvPr id="4" name="Slide Number Placeholder 3"/>
          <p:cNvSpPr>
            <a:spLocks noGrp="1"/>
          </p:cNvSpPr>
          <p:nvPr>
            <p:ph type="sldNum" sz="quarter" idx="5"/>
          </p:nvPr>
        </p:nvSpPr>
        <p:spPr/>
        <p:txBody>
          <a:bodyPr/>
          <a:lstStyle/>
          <a:p>
            <a:fld id="{163C8BCB-A8D7-074E-AD53-2B9312150B6F}" type="slidenum">
              <a:rPr lang="en-US" smtClean="0"/>
              <a:t>13</a:t>
            </a:fld>
            <a:endParaRPr lang="en-US"/>
          </a:p>
        </p:txBody>
      </p:sp>
    </p:spTree>
    <p:extLst>
      <p:ext uri="{BB962C8B-B14F-4D97-AF65-F5344CB8AC3E}">
        <p14:creationId xmlns:p14="http://schemas.microsoft.com/office/powerpoint/2010/main" val="880367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FRAMER: Let's wrap up with the complete troubleshooting toolkit and resources for AZ-801 exam preparation. The architecture diagram at the URL shows the interconnected troubleshooting domains we've covered today.</a:t>
            </a:r>
          </a:p>
          <a:p>
            <a:endParaRPr/>
          </a:p>
          <a:p>
            <a:r>
              <a:t>The diagram illustrates five troubleshooting workflows: Performance Monitor counter collection and baseline analysis, VM/Arc agent diagnostic flow from Resource Health through extension logs, BitLocker encryption troubleshooting with Key Vault integration, Storage Spaces Direct and Azure managed disk health checks, and Arc extension lifecycle management from policy deployment through log analysis.</a:t>
            </a:r>
          </a:p>
          <a:p>
            <a:endParaRPr/>
          </a:p>
          <a:p>
            <a:r>
              <a:t>Pay attention to log file locations - the exam tests this heavily. Know that Windows Performance Monitor stores .blg files in C:\PerfLogs, Azure VM agent logs go to C:\WindowsAzure\Logs, Arc agent logs live in %ProgramData%\AzureConnectedMachineAgent, BitLocker protector info comes from manage-bde, and Storage Spaces Direct diagnostics use Get-StorageSubSystem PowerShell cmdlets.</a:t>
            </a:r>
          </a:p>
          <a:p>
            <a:endParaRPr/>
          </a:p>
          <a:p>
            <a:r>
              <a:t>For additional study, Microsoft Learn has comprehensive troubleshooting documentation including step-by-step diagnostic guides for each topic area. The TroubleShootingScript (TSS) toolkit from Microsoft (aka.ms/getTSS) automates Performance Monitor collection and log gathering - extremely useful for exam scenarios asking about data collection methodology.</a:t>
            </a:r>
          </a:p>
          <a:p>
            <a:endParaRPr/>
          </a:p>
          <a:p>
            <a:r>
              <a:t>AZ-801 EXAM TIP: The exam tests troubleshooting decision trees. Example question: "Contoso Arc server shows 'Connected' status but monitoring extensions aren't collecting data. What's the first diagnostic step?" Wrong answers: reinstall the agent, redeploy the extension, check firewall rules. Correct answer: check extension logs in %ProgramData%\GuestConfig\extension_logs to identify the runtime error. The exam wants you to gather diagnostic data before making changes. Another pattern: always check health status and logs before restarting services or reinstalling components. Structured troubleshooting progresses from least invasive (read logs) to most invasive (reinstall software).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01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pic>
        <p:nvPicPr>
          <p:cNvPr id="2" name="Picture 1" descr="Shape&#10;&#10;Description automatically generated with medium confidence">
            <a:extLst>
              <a:ext uri="{FF2B5EF4-FFF2-40B4-BE49-F238E27FC236}">
                <a16:creationId xmlns:a16="http://schemas.microsoft.com/office/drawing/2014/main" id="{9F21EB85-4E6B-81AF-E3DE-25146E89F7C5}"/>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4" name="Picture 3" descr="A blue and white background&#10;&#10;Description automatically generated">
            <a:extLst>
              <a:ext uri="{FF2B5EF4-FFF2-40B4-BE49-F238E27FC236}">
                <a16:creationId xmlns:a16="http://schemas.microsoft.com/office/drawing/2014/main" id="{37032E1F-36A3-E746-345C-BA05CE612103}"/>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8" name="TextBox 7">
            <a:extLst>
              <a:ext uri="{FF2B5EF4-FFF2-40B4-BE49-F238E27FC236}">
                <a16:creationId xmlns:a16="http://schemas.microsoft.com/office/drawing/2014/main" id="{F5657EAA-C43A-E155-4654-56E83B180ABB}"/>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Tree>
    <p:extLst>
      <p:ext uri="{BB962C8B-B14F-4D97-AF65-F5344CB8AC3E}">
        <p14:creationId xmlns:p14="http://schemas.microsoft.com/office/powerpoint/2010/main" val="2644812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2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pic>
        <p:nvPicPr>
          <p:cNvPr id="2" name="Picture 1" descr="Course Intro slide for slide-based headshot (when recording on-camera is not an option)">
            <a:extLst>
              <a:ext uri="{FF2B5EF4-FFF2-40B4-BE49-F238E27FC236}">
                <a16:creationId xmlns:a16="http://schemas.microsoft.com/office/drawing/2014/main" id="{08182D27-E2F5-2883-AF50-ABB7E42A41DB}"/>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2385385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3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r>
              <a:rPr lang="en-US"/>
              <a:t>Click icon to add picture</a:t>
            </a:r>
            <a:endParaRPr lang="en-US" dirty="0"/>
          </a:p>
        </p:txBody>
      </p:sp>
      <p:pic>
        <p:nvPicPr>
          <p:cNvPr id="6" name="Picture 5" descr="A white background with blue border&#10;&#10;Description automatically generated">
            <a:extLst>
              <a:ext uri="{FF2B5EF4-FFF2-40B4-BE49-F238E27FC236}">
                <a16:creationId xmlns:a16="http://schemas.microsoft.com/office/drawing/2014/main" id="{69F2EE42-E762-6F5F-CC37-7233E5D11727}"/>
              </a:ext>
            </a:extLst>
          </p:cNvPr>
          <p:cNvPicPr>
            <a:picLocks noChangeAspect="1"/>
          </p:cNvPicPr>
          <p:nvPr userDrawn="1"/>
        </p:nvPicPr>
        <p:blipFill>
          <a:blip r:embed="rId2"/>
          <a:stretch>
            <a:fillRect/>
          </a:stretch>
        </p:blipFill>
        <p:spPr>
          <a:xfrm>
            <a:off x="1409" y="36599"/>
            <a:ext cx="9144000" cy="5143500"/>
          </a:xfrm>
          <a:prstGeom prst="rect">
            <a:avLst/>
          </a:prstGeom>
        </p:spPr>
      </p:pic>
    </p:spTree>
    <p:extLst>
      <p:ext uri="{BB962C8B-B14F-4D97-AF65-F5344CB8AC3E}">
        <p14:creationId xmlns:p14="http://schemas.microsoft.com/office/powerpoint/2010/main" val="94848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4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object with a black border&#10;&#10;Description automatically generated with medium confidence">
            <a:extLst>
              <a:ext uri="{FF2B5EF4-FFF2-40B4-BE49-F238E27FC236}">
                <a16:creationId xmlns:a16="http://schemas.microsoft.com/office/drawing/2014/main" id="{1E03FF75-F906-DFC4-F2DB-E6A0D0C643B9}"/>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044878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5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rectangular object with a grey background&#10;&#10;Description automatically generated">
            <a:extLst>
              <a:ext uri="{FF2B5EF4-FFF2-40B4-BE49-F238E27FC236}">
                <a16:creationId xmlns:a16="http://schemas.microsoft.com/office/drawing/2014/main" id="{5E576AAE-EDF3-8574-4732-C4A9E1587DC0}"/>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3463076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6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descr="A white and blue logo&#10;&#10;Description automatically generated with medium confidence">
            <a:extLst>
              <a:ext uri="{FF2B5EF4-FFF2-40B4-BE49-F238E27FC236}">
                <a16:creationId xmlns:a16="http://schemas.microsoft.com/office/drawing/2014/main" id="{F92DCD30-BA28-F0D3-0128-BF69D7B726C5}"/>
              </a:ext>
            </a:extLst>
          </p:cNvPr>
          <p:cNvPicPr>
            <a:picLocks noChangeAspect="1"/>
          </p:cNvPicPr>
          <p:nvPr userDrawn="1"/>
        </p:nvPicPr>
        <p:blipFill>
          <a:blip r:embed="rId2"/>
          <a:stretch>
            <a:fillRect/>
          </a:stretch>
        </p:blipFill>
        <p:spPr>
          <a:xfrm>
            <a:off x="0" y="0"/>
            <a:ext cx="9144000" cy="5143500"/>
          </a:xfrm>
          <a:prstGeom prst="rect">
            <a:avLst/>
          </a:prstGeom>
        </p:spPr>
      </p:pic>
    </p:spTree>
    <p:extLst>
      <p:ext uri="{BB962C8B-B14F-4D97-AF65-F5344CB8AC3E}">
        <p14:creationId xmlns:p14="http://schemas.microsoft.com/office/powerpoint/2010/main" val="604207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7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6C88AC8A-674A-76E5-9602-A90DC8B808F4}"/>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17285661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8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pic>
        <p:nvPicPr>
          <p:cNvPr id="2" name="Picture 1">
            <a:extLst>
              <a:ext uri="{FF2B5EF4-FFF2-40B4-BE49-F238E27FC236}">
                <a16:creationId xmlns:a16="http://schemas.microsoft.com/office/drawing/2014/main" id="{56BBD1A7-D040-8AA9-D945-8E9453D4DABF}"/>
              </a:ext>
            </a:extLst>
          </p:cNvPr>
          <p:cNvPicPr>
            <a:picLocks noChangeAspect="1"/>
          </p:cNvPicPr>
          <p:nvPr userDrawn="1"/>
        </p:nvPicPr>
        <p:blipFill>
          <a:blip r:embed="rId2"/>
          <a:srcRect/>
          <a:stretch/>
        </p:blipFill>
        <p:spPr>
          <a:xfrm>
            <a:off x="0" y="0"/>
            <a:ext cx="9144000" cy="5143500"/>
          </a:xfrm>
          <a:prstGeom prst="rect">
            <a:avLst/>
          </a:prstGeom>
        </p:spPr>
      </p:pic>
    </p:spTree>
    <p:extLst>
      <p:ext uri="{BB962C8B-B14F-4D97-AF65-F5344CB8AC3E}">
        <p14:creationId xmlns:p14="http://schemas.microsoft.com/office/powerpoint/2010/main" val="3579316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9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Picture 1">
            <a:extLst>
              <a:ext uri="{FF2B5EF4-FFF2-40B4-BE49-F238E27FC236}">
                <a16:creationId xmlns:a16="http://schemas.microsoft.com/office/drawing/2014/main" id="{206A0AD5-CB3F-8169-AF25-456262A7BAD3}"/>
              </a:ext>
            </a:extLst>
          </p:cNvPr>
          <p:cNvPicPr>
            <a:picLocks noChangeAspect="1"/>
          </p:cNvPicPr>
          <p:nvPr userDrawn="1"/>
        </p:nvPicPr>
        <p:blipFill>
          <a:blip r:embed="rId2"/>
          <a:srcRect/>
          <a:stretch/>
        </p:blipFill>
        <p:spPr>
          <a:xfrm>
            <a:off x="0" y="9336"/>
            <a:ext cx="9144000" cy="5143500"/>
          </a:xfrm>
          <a:prstGeom prst="rect">
            <a:avLst/>
          </a:prstGeom>
        </p:spPr>
      </p:pic>
    </p:spTree>
    <p:extLst>
      <p:ext uri="{BB962C8B-B14F-4D97-AF65-F5344CB8AC3E}">
        <p14:creationId xmlns:p14="http://schemas.microsoft.com/office/powerpoint/2010/main" val="1820708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ourse Title Slide">
    <p:spTree>
      <p:nvGrpSpPr>
        <p:cNvPr id="1" name=""/>
        <p:cNvGrpSpPr/>
        <p:nvPr/>
      </p:nvGrpSpPr>
      <p:grpSpPr>
        <a:xfrm>
          <a:off x="0" y="0"/>
          <a:ext cx="0" cy="0"/>
          <a:chOff x="0" y="0"/>
          <a:chExt cx="0" cy="0"/>
        </a:xfrm>
      </p:grpSpPr>
      <p:pic>
        <p:nvPicPr>
          <p:cNvPr id="5" name="Picture 4" descr="Shape&#10;&#10;Description automatically generated with medium confidence">
            <a:extLst>
              <a:ext uri="{FF2B5EF4-FFF2-40B4-BE49-F238E27FC236}">
                <a16:creationId xmlns:a16="http://schemas.microsoft.com/office/drawing/2014/main" id="{315FA5AA-E7FF-BD49-A92D-7A87578950F6}"/>
              </a:ext>
            </a:extLst>
          </p:cNvPr>
          <p:cNvPicPr>
            <a:picLocks noChangeAspect="1"/>
          </p:cNvPicPr>
          <p:nvPr userDrawn="1"/>
        </p:nvPicPr>
        <p:blipFill>
          <a:blip r:embed="rId2"/>
          <a:stretch>
            <a:fillRect/>
          </a:stretch>
        </p:blipFill>
        <p:spPr>
          <a:xfrm>
            <a:off x="0" y="0"/>
            <a:ext cx="9144000" cy="5143500"/>
          </a:xfrm>
          <a:prstGeom prst="rect">
            <a:avLst/>
          </a:prstGeom>
          <a:blipFill>
            <a:blip r:embed="rId3"/>
            <a:stretch>
              <a:fillRect/>
            </a:stretch>
          </a:blipFill>
        </p:spPr>
      </p:pic>
      <p:pic>
        <p:nvPicPr>
          <p:cNvPr id="7" name="Picture 6" descr="A blue and white background&#10;&#10;Description automatically generated">
            <a:extLst>
              <a:ext uri="{FF2B5EF4-FFF2-40B4-BE49-F238E27FC236}">
                <a16:creationId xmlns:a16="http://schemas.microsoft.com/office/drawing/2014/main" id="{DCB4EE68-6906-C0D2-628A-07C92F87891F}"/>
              </a:ext>
            </a:extLst>
          </p:cNvPr>
          <p:cNvPicPr>
            <a:picLocks noChangeAspect="1"/>
          </p:cNvPicPr>
          <p:nvPr userDrawn="1"/>
        </p:nvPicPr>
        <p:blipFill>
          <a:blip r:embed="rId3"/>
          <a:stretch>
            <a:fillRect/>
          </a:stretch>
        </p:blipFill>
        <p:spPr>
          <a:xfrm>
            <a:off x="0" y="0"/>
            <a:ext cx="9144000" cy="5143500"/>
          </a:xfrm>
          <a:prstGeom prst="rect">
            <a:avLst/>
          </a:prstGeom>
        </p:spPr>
      </p:pic>
      <p:sp>
        <p:nvSpPr>
          <p:cNvPr id="3" name="Subtitle 2"/>
          <p:cNvSpPr>
            <a:spLocks noGrp="1"/>
          </p:cNvSpPr>
          <p:nvPr>
            <p:ph type="subTitle" idx="1" hasCustomPrompt="1"/>
          </p:nvPr>
        </p:nvSpPr>
        <p:spPr>
          <a:xfrm>
            <a:off x="1840663" y="1365666"/>
            <a:ext cx="6143485" cy="674899"/>
          </a:xfrm>
        </p:spPr>
        <p:txBody>
          <a:bodyPr>
            <a:normAutofit/>
          </a:bodyPr>
          <a:lstStyle>
            <a:lvl1pPr marL="685800" indent="-630936" algn="l">
              <a:buNone/>
              <a:tabLst>
                <a:tab pos="574675" algn="l"/>
              </a:tabLst>
              <a:defRPr sz="4400" b="0" baseline="0">
                <a:solidFill>
                  <a:srgbClr val="454D4E"/>
                </a:solidFill>
                <a:latin typeface="Segoe UI Light" panose="020B0502040204020203" pitchFamily="34" charset="0"/>
                <a:cs typeface="Segoe UI Light" panose="020B0502040204020203"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Course Title Here:</a:t>
            </a:r>
          </a:p>
        </p:txBody>
      </p:sp>
      <p:sp>
        <p:nvSpPr>
          <p:cNvPr id="12" name="Picture Placeholder 11">
            <a:extLst>
              <a:ext uri="{FF2B5EF4-FFF2-40B4-BE49-F238E27FC236}">
                <a16:creationId xmlns:a16="http://schemas.microsoft.com/office/drawing/2014/main" id="{4DCF20B5-BDCC-4D4B-9EB2-D0FDA548FADC}"/>
              </a:ext>
            </a:extLst>
          </p:cNvPr>
          <p:cNvSpPr>
            <a:spLocks noGrp="1"/>
          </p:cNvSpPr>
          <p:nvPr>
            <p:ph type="pic" sz="quarter" idx="10" hasCustomPrompt="1"/>
          </p:nvPr>
        </p:nvSpPr>
        <p:spPr>
          <a:xfrm>
            <a:off x="2259980" y="3095097"/>
            <a:ext cx="1112885" cy="1168586"/>
          </a:xfrm>
          <a:effectLst>
            <a:outerShdw blurRad="50800" dist="38100" dir="5400000" algn="t" rotWithShape="0">
              <a:prstClr val="black">
                <a:alpha val="40000"/>
              </a:prstClr>
            </a:outerShdw>
          </a:effectLst>
        </p:spPr>
        <p:txBody>
          <a:bodyPr>
            <a:normAutofit/>
          </a:bodyPr>
          <a:lstStyle>
            <a:lvl1pPr marL="0" indent="0">
              <a:buNone/>
              <a:defRPr sz="1200"/>
            </a:lvl1pPr>
          </a:lstStyle>
          <a:p>
            <a:r>
              <a:rPr lang="en-US" dirty="0"/>
              <a:t>Insert </a:t>
            </a:r>
          </a:p>
          <a:p>
            <a:r>
              <a:rPr lang="en-US" dirty="0"/>
              <a:t>Author </a:t>
            </a:r>
          </a:p>
          <a:p>
            <a:r>
              <a:rPr lang="en-US" dirty="0"/>
              <a:t>Headshot </a:t>
            </a:r>
          </a:p>
          <a:p>
            <a:r>
              <a:rPr lang="en-US" dirty="0"/>
              <a:t>Photo</a:t>
            </a:r>
          </a:p>
          <a:p>
            <a:r>
              <a:rPr lang="en-US" dirty="0"/>
              <a:t>Here</a:t>
            </a:r>
          </a:p>
        </p:txBody>
      </p:sp>
      <p:sp>
        <p:nvSpPr>
          <p:cNvPr id="6" name="Text Placeholder 5">
            <a:extLst>
              <a:ext uri="{FF2B5EF4-FFF2-40B4-BE49-F238E27FC236}">
                <a16:creationId xmlns:a16="http://schemas.microsoft.com/office/drawing/2014/main" id="{E069A88D-4483-164E-BD65-F3FA79A5214F}"/>
              </a:ext>
            </a:extLst>
          </p:cNvPr>
          <p:cNvSpPr>
            <a:spLocks noGrp="1"/>
          </p:cNvSpPr>
          <p:nvPr>
            <p:ph type="body" sz="quarter" idx="11" hasCustomPrompt="1"/>
          </p:nvPr>
        </p:nvSpPr>
        <p:spPr>
          <a:xfrm>
            <a:off x="3462819" y="3263590"/>
            <a:ext cx="3802750" cy="384813"/>
          </a:xfrm>
        </p:spPr>
        <p:txBody>
          <a:bodyPr>
            <a:noAutofit/>
          </a:bodyPr>
          <a:lstStyle>
            <a:lvl1pPr marL="0" indent="0">
              <a:buNone/>
              <a:defRPr sz="2000" b="0" i="0" u="none" baseline="0">
                <a:latin typeface="Open Sans" panose="020B0606030504020204" pitchFamily="34" charset="0"/>
              </a:defRPr>
            </a:lvl1pPr>
          </a:lstStyle>
          <a:p>
            <a:pPr algn="l"/>
            <a:r>
              <a:rPr lang="en-US" sz="1600" dirty="0">
                <a:latin typeface="Segoe UI" panose="020B0502040204020203" pitchFamily="34" charset="0"/>
                <a:cs typeface="Segoe UI" panose="020B0502040204020203" pitchFamily="34" charset="0"/>
              </a:rPr>
              <a:t>Author Name</a:t>
            </a:r>
          </a:p>
        </p:txBody>
      </p:sp>
      <p:sp>
        <p:nvSpPr>
          <p:cNvPr id="14" name="Text Placeholder 13">
            <a:extLst>
              <a:ext uri="{FF2B5EF4-FFF2-40B4-BE49-F238E27FC236}">
                <a16:creationId xmlns:a16="http://schemas.microsoft.com/office/drawing/2014/main" id="{4C2A0807-1CDE-5F49-A30A-6B9B299977E1}"/>
              </a:ext>
            </a:extLst>
          </p:cNvPr>
          <p:cNvSpPr>
            <a:spLocks noGrp="1"/>
          </p:cNvSpPr>
          <p:nvPr>
            <p:ph type="body" sz="quarter" idx="12" hasCustomPrompt="1"/>
          </p:nvPr>
        </p:nvSpPr>
        <p:spPr>
          <a:xfrm>
            <a:off x="3462347" y="3648402"/>
            <a:ext cx="2739170" cy="584200"/>
          </a:xfrm>
        </p:spPr>
        <p:txBody>
          <a:bodyPr>
            <a:normAutofit/>
          </a:bodyPr>
          <a:lstStyle>
            <a:lvl1pPr marL="0" indent="0">
              <a:buNone/>
              <a:defRPr sz="1200" baseline="0">
                <a:latin typeface="Open Sans" panose="020B0606030504020204" pitchFamily="34" charset="0"/>
              </a:defRPr>
            </a:lvl1pPr>
          </a:lstStyle>
          <a:p>
            <a:pPr lvl="0"/>
            <a:r>
              <a:rPr lang="en-US" dirty="0"/>
              <a:t>Lower Third</a:t>
            </a:r>
          </a:p>
        </p:txBody>
      </p:sp>
      <p:sp>
        <p:nvSpPr>
          <p:cNvPr id="17" name="TextBox 16">
            <a:extLst>
              <a:ext uri="{FF2B5EF4-FFF2-40B4-BE49-F238E27FC236}">
                <a16:creationId xmlns:a16="http://schemas.microsoft.com/office/drawing/2014/main" id="{68641A57-2545-0CDA-3A11-C1281610CCD7}"/>
              </a:ext>
            </a:extLst>
          </p:cNvPr>
          <p:cNvSpPr txBox="1"/>
          <p:nvPr userDrawn="1"/>
        </p:nvSpPr>
        <p:spPr>
          <a:xfrm>
            <a:off x="1923165" y="312433"/>
            <a:ext cx="5239240" cy="628091"/>
          </a:xfrm>
          <a:prstGeom prst="rect">
            <a:avLst/>
          </a:prstGeom>
        </p:spPr>
        <p:txBody>
          <a:bodyPr vert="horz" wrap="none" lIns="91440" tIns="45720" rIns="91440" bIns="45720" rtlCol="0">
            <a:normAutofit/>
          </a:bodyPr>
          <a:lstStyle/>
          <a:p>
            <a:pPr algn="l"/>
            <a:r>
              <a:rPr lang="en-US" sz="3000" b="1" i="0" baseline="0" dirty="0">
                <a:solidFill>
                  <a:srgbClr val="454D4E"/>
                </a:solidFill>
                <a:latin typeface="Segoe UI" panose="020B0502040204020203" pitchFamily="34" charset="0"/>
                <a:cs typeface="Segoe UI" panose="020B0502040204020203" pitchFamily="34" charset="0"/>
              </a:rPr>
              <a:t>Introduction</a:t>
            </a:r>
          </a:p>
        </p:txBody>
      </p:sp>
      <p:sp>
        <p:nvSpPr>
          <p:cNvPr id="16" name="Text Placeholder 15">
            <a:extLst>
              <a:ext uri="{FF2B5EF4-FFF2-40B4-BE49-F238E27FC236}">
                <a16:creationId xmlns:a16="http://schemas.microsoft.com/office/drawing/2014/main" id="{D7709AF5-2D39-3318-476A-B7DB868293B3}"/>
              </a:ext>
            </a:extLst>
          </p:cNvPr>
          <p:cNvSpPr>
            <a:spLocks noGrp="1"/>
          </p:cNvSpPr>
          <p:nvPr>
            <p:ph type="body" sz="quarter" idx="13" hasCustomPrompt="1"/>
          </p:nvPr>
        </p:nvSpPr>
        <p:spPr>
          <a:xfrm>
            <a:off x="1840662" y="2040565"/>
            <a:ext cx="6143485" cy="771235"/>
          </a:xfrm>
        </p:spPr>
        <p:txBody>
          <a:bodyPr>
            <a:noAutofit/>
          </a:bodyPr>
          <a:lstStyle>
            <a:lvl1pPr marL="0" indent="0">
              <a:buNone/>
              <a:defRPr sz="3600" b="0" i="0">
                <a:latin typeface="Segoe UI Light" panose="020B0502040204020203" pitchFamily="34" charset="0"/>
                <a:cs typeface="Segoe UI Light" panose="020B0502040204020203" pitchFamily="34" charset="0"/>
              </a:defRPr>
            </a:lvl1pPr>
          </a:lstStyle>
          <a:p>
            <a:pPr lvl="0"/>
            <a:r>
              <a:rPr lang="en-US" dirty="0"/>
              <a:t> Subtitle here</a:t>
            </a:r>
          </a:p>
        </p:txBody>
      </p:sp>
    </p:spTree>
    <p:extLst>
      <p:ext uri="{BB962C8B-B14F-4D97-AF65-F5344CB8AC3E}">
        <p14:creationId xmlns:p14="http://schemas.microsoft.com/office/powerpoint/2010/main" val="3128257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_Course Intro (headshot slide)">
    <p:spTree>
      <p:nvGrpSpPr>
        <p:cNvPr id="1" name=""/>
        <p:cNvGrpSpPr/>
        <p:nvPr/>
      </p:nvGrpSpPr>
      <p:grpSpPr>
        <a:xfrm>
          <a:off x="0" y="0"/>
          <a:ext cx="0" cy="0"/>
          <a:chOff x="0" y="0"/>
          <a:chExt cx="0" cy="0"/>
        </a:xfrm>
      </p:grpSpPr>
      <p:pic>
        <p:nvPicPr>
          <p:cNvPr id="4" name="Picture 3" descr="Course Intro slide for slide-based headshot (when recording on-camera is not an option)">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Picture Placeholder 11">
            <a:extLst>
              <a:ext uri="{FF2B5EF4-FFF2-40B4-BE49-F238E27FC236}">
                <a16:creationId xmlns:a16="http://schemas.microsoft.com/office/drawing/2014/main" id="{F18C1000-CFD1-814F-9DAF-2DC7FBADDD96}"/>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863804"/>
          </a:xfrm>
        </p:spPr>
        <p:txBody>
          <a:bodyPr>
            <a:normAutofit/>
          </a:bodyPr>
          <a:lstStyle>
            <a:lvl1pPr marL="0" indent="0" algn="ctr">
              <a:buNone/>
              <a:defRPr sz="2000" b="0" i="0" kern="800" baseline="0">
                <a:latin typeface="Segoe UI Semilight" panose="020B0402040204020203" pitchFamily="34" charset="0"/>
                <a:cs typeface="Segoe UI Semilight" panose="020B0402040204020203" pitchFamily="34" charset="0"/>
              </a:defRPr>
            </a:lvl1pPr>
          </a:lstStyle>
          <a:p>
            <a:pPr lvl="0"/>
            <a:r>
              <a:rPr lang="en-US" dirty="0"/>
              <a:t>Course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246704"/>
            <a:ext cx="3966571" cy="2979037"/>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Lesson 1: Title</a:t>
            </a:r>
          </a:p>
          <a:p>
            <a:pPr lvl="0"/>
            <a:endParaRPr lang="en-US" dirty="0"/>
          </a:p>
          <a:p>
            <a:pPr lvl="0"/>
            <a:r>
              <a:rPr lang="en-US" dirty="0"/>
              <a:t>Lesson 2: Title</a:t>
            </a:r>
          </a:p>
          <a:p>
            <a:pPr lvl="0"/>
            <a:endParaRPr lang="en-US" dirty="0"/>
          </a:p>
          <a:p>
            <a:pPr lvl="0"/>
            <a:r>
              <a:rPr lang="en-US" dirty="0"/>
              <a:t>Lesson 3: Title</a:t>
            </a:r>
            <a:br>
              <a:rPr lang="en-US" dirty="0"/>
            </a:br>
            <a:endParaRPr lang="en-US" dirty="0"/>
          </a:p>
          <a:p>
            <a:pPr lvl="0"/>
            <a:r>
              <a:rPr lang="en-US" dirty="0"/>
              <a:t>Lesson 4: Title</a:t>
            </a:r>
          </a:p>
          <a:p>
            <a:pPr lvl="0"/>
            <a:endParaRPr lang="en-US" dirty="0"/>
          </a:p>
          <a:p>
            <a:pPr lvl="0"/>
            <a:r>
              <a:rPr lang="en-US" dirty="0"/>
              <a:t>Lesson 5: Title</a:t>
            </a:r>
          </a:p>
        </p:txBody>
      </p:sp>
    </p:spTree>
    <p:extLst>
      <p:ext uri="{BB962C8B-B14F-4D97-AF65-F5344CB8AC3E}">
        <p14:creationId xmlns:p14="http://schemas.microsoft.com/office/powerpoint/2010/main" val="38532289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_Lesson Intro (headshot slide)">
    <p:spTree>
      <p:nvGrpSpPr>
        <p:cNvPr id="1" name=""/>
        <p:cNvGrpSpPr/>
        <p:nvPr/>
      </p:nvGrpSpPr>
      <p:grpSpPr>
        <a:xfrm>
          <a:off x="0" y="0"/>
          <a:ext cx="0" cy="0"/>
          <a:chOff x="0" y="0"/>
          <a:chExt cx="0" cy="0"/>
        </a:xfrm>
      </p:grpSpPr>
      <p:pic>
        <p:nvPicPr>
          <p:cNvPr id="4" name="Picture 3" descr="A white background with blue border&#10;&#10;Description automatically generated">
            <a:extLst>
              <a:ext uri="{FF2B5EF4-FFF2-40B4-BE49-F238E27FC236}">
                <a16:creationId xmlns:a16="http://schemas.microsoft.com/office/drawing/2014/main" id="{9289594B-CEE2-DA79-8D6C-78D7B18EF0B7}"/>
              </a:ext>
            </a:extLst>
          </p:cNvPr>
          <p:cNvPicPr>
            <a:picLocks noChangeAspect="1"/>
          </p:cNvPicPr>
          <p:nvPr userDrawn="1"/>
        </p:nvPicPr>
        <p:blipFill>
          <a:blip r:embed="rId2"/>
          <a:stretch>
            <a:fillRect/>
          </a:stretch>
        </p:blipFill>
        <p:spPr>
          <a:xfrm>
            <a:off x="1409" y="36599"/>
            <a:ext cx="9144000" cy="5143500"/>
          </a:xfrm>
          <a:prstGeom prst="rect">
            <a:avLst/>
          </a:prstGeom>
        </p:spPr>
      </p:pic>
      <p:sp>
        <p:nvSpPr>
          <p:cNvPr id="3" name="Text Placeholder 2">
            <a:extLst>
              <a:ext uri="{FF2B5EF4-FFF2-40B4-BE49-F238E27FC236}">
                <a16:creationId xmlns:a16="http://schemas.microsoft.com/office/drawing/2014/main" id="{BD4601DF-3D69-3D45-B976-F47622BD405E}"/>
              </a:ext>
            </a:extLst>
          </p:cNvPr>
          <p:cNvSpPr>
            <a:spLocks noGrp="1"/>
          </p:cNvSpPr>
          <p:nvPr>
            <p:ph type="body" sz="quarter" idx="11" hasCustomPrompt="1"/>
          </p:nvPr>
        </p:nvSpPr>
        <p:spPr>
          <a:xfrm>
            <a:off x="4620635" y="382901"/>
            <a:ext cx="3966571" cy="728568"/>
          </a:xfrm>
        </p:spPr>
        <p:txBody>
          <a:bodyPr>
            <a:normAutofit/>
          </a:bodyPr>
          <a:lstStyle>
            <a:lvl1pPr marL="0" indent="0">
              <a:buNone/>
              <a:defRPr sz="2000" b="0" i="0" kern="800" baseline="0">
                <a:latin typeface="Segoe UI Semilight" panose="020B0402040204020203" pitchFamily="34" charset="0"/>
                <a:cs typeface="Segoe UI Semilight" panose="020B0402040204020203" pitchFamily="34" charset="0"/>
              </a:defRPr>
            </a:lvl1pPr>
          </a:lstStyle>
          <a:p>
            <a:pPr lvl="0"/>
            <a:r>
              <a:rPr lang="en-US" dirty="0"/>
              <a:t>Lesson Title Goes Here</a:t>
            </a:r>
          </a:p>
        </p:txBody>
      </p:sp>
      <p:sp>
        <p:nvSpPr>
          <p:cNvPr id="9" name="Text Placeholder 2">
            <a:extLst>
              <a:ext uri="{FF2B5EF4-FFF2-40B4-BE49-F238E27FC236}">
                <a16:creationId xmlns:a16="http://schemas.microsoft.com/office/drawing/2014/main" id="{9258BD1F-B284-28B8-2B50-52C6221AECFD}"/>
              </a:ext>
            </a:extLst>
          </p:cNvPr>
          <p:cNvSpPr>
            <a:spLocks noGrp="1"/>
          </p:cNvSpPr>
          <p:nvPr>
            <p:ph type="body" sz="quarter" idx="12" hasCustomPrompt="1"/>
          </p:nvPr>
        </p:nvSpPr>
        <p:spPr>
          <a:xfrm>
            <a:off x="4620634" y="1124147"/>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1.1 Sub-lesson Title</a:t>
            </a:r>
          </a:p>
        </p:txBody>
      </p:sp>
      <p:sp>
        <p:nvSpPr>
          <p:cNvPr id="2" name="Text Placeholder 2">
            <a:extLst>
              <a:ext uri="{FF2B5EF4-FFF2-40B4-BE49-F238E27FC236}">
                <a16:creationId xmlns:a16="http://schemas.microsoft.com/office/drawing/2014/main" id="{D7ED1EBB-6BC5-DFD0-E2B6-8349F2148CE8}"/>
              </a:ext>
            </a:extLst>
          </p:cNvPr>
          <p:cNvSpPr>
            <a:spLocks noGrp="1"/>
          </p:cNvSpPr>
          <p:nvPr>
            <p:ph type="body" sz="quarter" idx="15" hasCustomPrompt="1"/>
          </p:nvPr>
        </p:nvSpPr>
        <p:spPr>
          <a:xfrm>
            <a:off x="4619297" y="1869540"/>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1.2 Sub-lesson Title</a:t>
            </a:r>
          </a:p>
        </p:txBody>
      </p:sp>
      <p:sp>
        <p:nvSpPr>
          <p:cNvPr id="5" name="Text Placeholder 2">
            <a:extLst>
              <a:ext uri="{FF2B5EF4-FFF2-40B4-BE49-F238E27FC236}">
                <a16:creationId xmlns:a16="http://schemas.microsoft.com/office/drawing/2014/main" id="{5BEAFDF9-6B1A-C0EB-0DEB-8FFA696AC94B}"/>
              </a:ext>
            </a:extLst>
          </p:cNvPr>
          <p:cNvSpPr>
            <a:spLocks noGrp="1"/>
          </p:cNvSpPr>
          <p:nvPr>
            <p:ph type="body" sz="quarter" idx="16" hasCustomPrompt="1"/>
          </p:nvPr>
        </p:nvSpPr>
        <p:spPr>
          <a:xfrm>
            <a:off x="4619298" y="2598108"/>
            <a:ext cx="3966571" cy="728568"/>
          </a:xfrm>
        </p:spPr>
        <p:txBody>
          <a:bodyPr>
            <a:normAutofit/>
          </a:bodyPr>
          <a:lstStyle>
            <a:lvl1pPr marL="0" indent="0">
              <a:buNone/>
              <a:defRPr sz="1600" b="0" i="0" kern="800" baseline="0">
                <a:latin typeface="Segoe UI Semilight" panose="020B0402040204020203" pitchFamily="34" charset="0"/>
                <a:cs typeface="Segoe UI Semilight" panose="020B0402040204020203" pitchFamily="34" charset="0"/>
              </a:defRPr>
            </a:lvl1pPr>
          </a:lstStyle>
          <a:p>
            <a:pPr lvl="0"/>
            <a:r>
              <a:rPr lang="en-US" dirty="0"/>
              <a:t>• 1.3 Sub-lesson Title</a:t>
            </a:r>
          </a:p>
        </p:txBody>
      </p:sp>
      <p:sp>
        <p:nvSpPr>
          <p:cNvPr id="7" name="Picture Placeholder 11">
            <a:extLst>
              <a:ext uri="{FF2B5EF4-FFF2-40B4-BE49-F238E27FC236}">
                <a16:creationId xmlns:a16="http://schemas.microsoft.com/office/drawing/2014/main" id="{41F5051F-7083-3DC3-EC81-E04D81C975E0}"/>
              </a:ext>
            </a:extLst>
          </p:cNvPr>
          <p:cNvSpPr>
            <a:spLocks noGrp="1"/>
          </p:cNvSpPr>
          <p:nvPr>
            <p:ph type="pic" sz="quarter" idx="10"/>
          </p:nvPr>
        </p:nvSpPr>
        <p:spPr>
          <a:xfrm>
            <a:off x="890544" y="664995"/>
            <a:ext cx="3358265" cy="3560747"/>
          </a:xfrm>
          <a:effectLst>
            <a:outerShdw blurRad="50800" dist="38100" dir="5400000" algn="t" rotWithShape="0">
              <a:prstClr val="black">
                <a:alpha val="40000"/>
              </a:prstClr>
            </a:outerShdw>
          </a:effectLst>
        </p:spPr>
        <p:txBody>
          <a:bodyPr>
            <a:normAutofit/>
          </a:bodyPr>
          <a:lstStyle>
            <a:lvl1pPr marL="0" indent="0" algn="ctr">
              <a:buNone/>
              <a:defRPr sz="2800"/>
            </a:lvl1pPr>
          </a:lstStyle>
          <a:p>
            <a:endParaRPr lang="en-US" dirty="0"/>
          </a:p>
          <a:p>
            <a:r>
              <a:rPr lang="en-US" dirty="0"/>
              <a:t>Insert Author </a:t>
            </a:r>
          </a:p>
          <a:p>
            <a:r>
              <a:rPr lang="en-US" dirty="0"/>
              <a:t>Headshot Photo</a:t>
            </a:r>
          </a:p>
          <a:p>
            <a:r>
              <a:rPr lang="en-US" dirty="0"/>
              <a:t>Here</a:t>
            </a:r>
          </a:p>
        </p:txBody>
      </p:sp>
    </p:spTree>
    <p:extLst>
      <p:ext uri="{BB962C8B-B14F-4D97-AF65-F5344CB8AC3E}">
        <p14:creationId xmlns:p14="http://schemas.microsoft.com/office/powerpoint/2010/main" val="4578789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ontent Slide (top title bar)">
    <p:spTree>
      <p:nvGrpSpPr>
        <p:cNvPr id="1" name=""/>
        <p:cNvGrpSpPr/>
        <p:nvPr/>
      </p:nvGrpSpPr>
      <p:grpSpPr>
        <a:xfrm>
          <a:off x="0" y="0"/>
          <a:ext cx="0" cy="0"/>
          <a:chOff x="0" y="0"/>
          <a:chExt cx="0" cy="0"/>
        </a:xfrm>
      </p:grpSpPr>
      <p:pic>
        <p:nvPicPr>
          <p:cNvPr id="8" name="Picture 7" descr="A white object with a black border&#10;&#10;Description automatically generated with medium confidence">
            <a:extLst>
              <a:ext uri="{FF2B5EF4-FFF2-40B4-BE49-F238E27FC236}">
                <a16:creationId xmlns:a16="http://schemas.microsoft.com/office/drawing/2014/main" id="{6F592B98-E829-4D75-987C-E10A1777DFDC}"/>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9" name="Title 1">
            <a:extLst>
              <a:ext uri="{FF2B5EF4-FFF2-40B4-BE49-F238E27FC236}">
                <a16:creationId xmlns:a16="http://schemas.microsoft.com/office/drawing/2014/main" id="{7BF004E1-6C6E-A41B-2708-AF445AAF3B69}"/>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10" name="Content Placeholder 2">
            <a:extLst>
              <a:ext uri="{FF2B5EF4-FFF2-40B4-BE49-F238E27FC236}">
                <a16:creationId xmlns:a16="http://schemas.microsoft.com/office/drawing/2014/main" id="{5A0E15C9-D306-B736-F041-3C5729A18DE3}"/>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615701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6_Content Slide (box)">
    <p:spTree>
      <p:nvGrpSpPr>
        <p:cNvPr id="1" name=""/>
        <p:cNvGrpSpPr/>
        <p:nvPr/>
      </p:nvGrpSpPr>
      <p:grpSpPr>
        <a:xfrm>
          <a:off x="0" y="0"/>
          <a:ext cx="0" cy="0"/>
          <a:chOff x="0" y="0"/>
          <a:chExt cx="0" cy="0"/>
        </a:xfrm>
      </p:grpSpPr>
      <p:pic>
        <p:nvPicPr>
          <p:cNvPr id="5" name="Picture 4" descr="A white rectangular object with a grey background&#10;&#10;Description automatically generated">
            <a:extLst>
              <a:ext uri="{FF2B5EF4-FFF2-40B4-BE49-F238E27FC236}">
                <a16:creationId xmlns:a16="http://schemas.microsoft.com/office/drawing/2014/main" id="{8F5A7659-558D-5850-50C2-72AB7FD8FCBD}"/>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6" name="Title 1">
            <a:extLst>
              <a:ext uri="{FF2B5EF4-FFF2-40B4-BE49-F238E27FC236}">
                <a16:creationId xmlns:a16="http://schemas.microsoft.com/office/drawing/2014/main" id="{39A3BCAA-490B-BAA5-D814-04214EC50245}"/>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bg1"/>
                </a:solidFill>
                <a:latin typeface="Segoe UI" panose="020B0502040204020203" pitchFamily="34" charset="0"/>
                <a:cs typeface="Segoe UI" panose="020B0502040204020203" pitchFamily="34" charset="0"/>
              </a:defRPr>
            </a:lvl1pPr>
          </a:lstStyle>
          <a:p>
            <a:r>
              <a:rPr lang="en-US" dirty="0"/>
              <a:t>Slide Title Goes Here</a:t>
            </a:r>
          </a:p>
        </p:txBody>
      </p:sp>
      <p:sp>
        <p:nvSpPr>
          <p:cNvPr id="7" name="Content Placeholder 2">
            <a:extLst>
              <a:ext uri="{FF2B5EF4-FFF2-40B4-BE49-F238E27FC236}">
                <a16:creationId xmlns:a16="http://schemas.microsoft.com/office/drawing/2014/main" id="{4043A29F-9950-00FC-54AD-2F3EA9126BD7}"/>
              </a:ext>
            </a:extLst>
          </p:cNvPr>
          <p:cNvSpPr>
            <a:spLocks noGrp="1"/>
          </p:cNvSpPr>
          <p:nvPr>
            <p:ph idx="1"/>
          </p:nvPr>
        </p:nvSpPr>
        <p:spPr>
          <a:xfrm>
            <a:off x="900501" y="987374"/>
            <a:ext cx="7333862" cy="3655572"/>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5376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_Content Slide (header and footer)">
    <p:spTree>
      <p:nvGrpSpPr>
        <p:cNvPr id="1" name=""/>
        <p:cNvGrpSpPr/>
        <p:nvPr/>
      </p:nvGrpSpPr>
      <p:grpSpPr>
        <a:xfrm>
          <a:off x="0" y="0"/>
          <a:ext cx="0" cy="0"/>
          <a:chOff x="0" y="0"/>
          <a:chExt cx="0" cy="0"/>
        </a:xfrm>
      </p:grpSpPr>
      <p:pic>
        <p:nvPicPr>
          <p:cNvPr id="4" name="Picture 3" descr="A white and blue logo&#10;&#10;Description automatically generated with medium confidence">
            <a:extLst>
              <a:ext uri="{FF2B5EF4-FFF2-40B4-BE49-F238E27FC236}">
                <a16:creationId xmlns:a16="http://schemas.microsoft.com/office/drawing/2014/main" id="{10F185E1-4992-9D3A-B3E8-45EEBB7E670A}"/>
              </a:ext>
            </a:extLst>
          </p:cNvPr>
          <p:cNvPicPr>
            <a:picLocks noChangeAspect="1"/>
          </p:cNvPicPr>
          <p:nvPr userDrawn="1"/>
        </p:nvPicPr>
        <p:blipFill>
          <a:blip r:embed="rId2"/>
          <a:stretch>
            <a:fill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2048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8_Content Slide (footer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6ED5F27-70E5-4B4C-988B-9232507CFD00}"/>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1">
            <a:extLst>
              <a:ext uri="{FF2B5EF4-FFF2-40B4-BE49-F238E27FC236}">
                <a16:creationId xmlns:a16="http://schemas.microsoft.com/office/drawing/2014/main" id="{C5FABB46-522D-9531-1393-55BDDBA9800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24892205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9_Content Slide (footer only w/ two content boxes)">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2225C24-701B-6B4D-B8C3-DFB49DB8C60B}"/>
              </a:ext>
            </a:extLst>
          </p:cNvPr>
          <p:cNvPicPr>
            <a:picLocks noChangeAspect="1"/>
          </p:cNvPicPr>
          <p:nvPr userDrawn="1"/>
        </p:nvPicPr>
        <p:blipFill>
          <a:blip r:embed="rId2"/>
          <a:srcRect/>
          <a:stretch/>
        </p:blipFill>
        <p:spPr>
          <a:xfrm>
            <a:off x="0" y="0"/>
            <a:ext cx="9144000" cy="5143500"/>
          </a:xfrm>
          <a:prstGeom prst="rect">
            <a:avLst/>
          </a:prstGeom>
        </p:spPr>
      </p:pic>
      <p:sp>
        <p:nvSpPr>
          <p:cNvPr id="3" name="Content Placeholder 2"/>
          <p:cNvSpPr>
            <a:spLocks noGrp="1"/>
          </p:cNvSpPr>
          <p:nvPr>
            <p:ph sz="half" idx="1"/>
          </p:nvPr>
        </p:nvSpPr>
        <p:spPr>
          <a:xfrm>
            <a:off x="457200" y="946140"/>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57344" y="946356"/>
            <a:ext cx="4038600" cy="3394472"/>
          </a:xfrm>
        </p:spPr>
        <p:txBody>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itle 1">
            <a:extLst>
              <a:ext uri="{FF2B5EF4-FFF2-40B4-BE49-F238E27FC236}">
                <a16:creationId xmlns:a16="http://schemas.microsoft.com/office/drawing/2014/main" id="{1F0EB95E-AB5B-2489-EDB6-8BD32E98EC8B}"/>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Tree>
    <p:extLst>
      <p:ext uri="{BB962C8B-B14F-4D97-AF65-F5344CB8AC3E}">
        <p14:creationId xmlns:p14="http://schemas.microsoft.com/office/powerpoint/2010/main" val="734011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0_Content Slide (open spac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B9D5BD-777B-FB47-A928-3A74870851D9}"/>
              </a:ext>
            </a:extLst>
          </p:cNvPr>
          <p:cNvPicPr>
            <a:picLocks noChangeAspect="1"/>
          </p:cNvPicPr>
          <p:nvPr userDrawn="1"/>
        </p:nvPicPr>
        <p:blipFill>
          <a:blip r:embed="rId2"/>
          <a:srcRect/>
          <a:stretch/>
        </p:blipFill>
        <p:spPr>
          <a:xfrm>
            <a:off x="0" y="9336"/>
            <a:ext cx="9144000" cy="5143500"/>
          </a:xfrm>
          <a:prstGeom prst="rect">
            <a:avLst/>
          </a:prstGeom>
        </p:spPr>
      </p:pic>
      <p:sp>
        <p:nvSpPr>
          <p:cNvPr id="6" name="Title 1">
            <a:extLst>
              <a:ext uri="{FF2B5EF4-FFF2-40B4-BE49-F238E27FC236}">
                <a16:creationId xmlns:a16="http://schemas.microsoft.com/office/drawing/2014/main" id="{715979BF-344D-CDD6-5808-1E3A396E91D7}"/>
              </a:ext>
            </a:extLst>
          </p:cNvPr>
          <p:cNvSpPr>
            <a:spLocks noGrp="1"/>
          </p:cNvSpPr>
          <p:nvPr>
            <p:ph type="title" hasCustomPrompt="1"/>
          </p:nvPr>
        </p:nvSpPr>
        <p:spPr>
          <a:xfrm>
            <a:off x="793342" y="9336"/>
            <a:ext cx="7548179" cy="463628"/>
          </a:xfrm>
          <a:prstGeom prst="rect">
            <a:avLst/>
          </a:prstGeom>
        </p:spPr>
        <p:txBody>
          <a:bodyPr>
            <a:noAutofit/>
          </a:bodyPr>
          <a:lstStyle>
            <a:lvl1pPr algn="l">
              <a:defRPr sz="2800" baseline="0">
                <a:solidFill>
                  <a:schemeClr val="tx1"/>
                </a:solidFill>
                <a:latin typeface="Segoe UI" panose="020B0502040204020203" pitchFamily="34" charset="0"/>
                <a:cs typeface="Segoe UI" panose="020B0502040204020203" pitchFamily="34" charset="0"/>
              </a:defRPr>
            </a:lvl1pPr>
          </a:lstStyle>
          <a:p>
            <a:r>
              <a:rPr lang="en-US" dirty="0"/>
              <a:t>Slide Title Goes Here</a:t>
            </a:r>
          </a:p>
        </p:txBody>
      </p:sp>
      <p:sp>
        <p:nvSpPr>
          <p:cNvPr id="9" name="Content Placeholder 2">
            <a:extLst>
              <a:ext uri="{FF2B5EF4-FFF2-40B4-BE49-F238E27FC236}">
                <a16:creationId xmlns:a16="http://schemas.microsoft.com/office/drawing/2014/main" id="{4E038BA8-C749-8779-4A17-7889836633C0}"/>
              </a:ext>
            </a:extLst>
          </p:cNvPr>
          <p:cNvSpPr>
            <a:spLocks noGrp="1"/>
          </p:cNvSpPr>
          <p:nvPr>
            <p:ph idx="1"/>
          </p:nvPr>
        </p:nvSpPr>
        <p:spPr>
          <a:xfrm>
            <a:off x="900501" y="775629"/>
            <a:ext cx="7333862" cy="3742941"/>
          </a:xfrm>
        </p:spPr>
        <p:txBody>
          <a:bodyPr>
            <a:noAutofit/>
          </a:bodyPr>
          <a:lstStyle>
            <a:lvl1pPr>
              <a:defRPr sz="2200" baseline="0">
                <a:latin typeface="Open Sans" panose="020B0606030504020204" pitchFamily="34" charset="0"/>
              </a:defRPr>
            </a:lvl1pPr>
            <a:lvl2pPr>
              <a:defRPr sz="2000" baseline="0">
                <a:latin typeface="Open Sans" panose="020B0606030504020204" pitchFamily="34" charset="0"/>
              </a:defRPr>
            </a:lvl2pPr>
            <a:lvl3pPr>
              <a:defRPr sz="1800" baseline="0">
                <a:latin typeface="Open Sans" panose="020B0606030504020204" pitchFamily="34" charset="0"/>
              </a:defRPr>
            </a:lvl3pPr>
            <a:lvl4pPr>
              <a:defRPr sz="1800" baseline="0">
                <a:latin typeface="Open Sans" panose="020B0606030504020204" pitchFamily="34" charset="0"/>
              </a:defRPr>
            </a:lvl4pPr>
            <a:lvl5pPr>
              <a:defRPr sz="1800" baseline="0">
                <a:latin typeface="Open Sans" panose="020B06060305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03666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0"/>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28B0A6C-EF38-9441-ADBF-8FE45FA6C46E}" type="datetimeFigureOut">
              <a:rPr lang="en-US" smtClean="0"/>
              <a:t>Sun, 10/26/2025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D032D76-6BE4-154B-A130-37D069E42354}" type="slidenum">
              <a:rPr lang="en-US" smtClean="0"/>
              <a:t>‹#›</a:t>
            </a:fld>
            <a:endParaRPr lang="en-US"/>
          </a:p>
        </p:txBody>
      </p:sp>
      <p:sp>
        <p:nvSpPr>
          <p:cNvPr id="7" name="Title 1"/>
          <p:cNvSpPr txBox="1">
            <a:spLocks/>
          </p:cNvSpPr>
          <p:nvPr/>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
        <p:nvSpPr>
          <p:cNvPr id="2" name="Title 1">
            <a:extLst>
              <a:ext uri="{FF2B5EF4-FFF2-40B4-BE49-F238E27FC236}">
                <a16:creationId xmlns:a16="http://schemas.microsoft.com/office/drawing/2014/main" id="{93EF7376-91BF-E078-2A66-21FFC1EC9B9D}"/>
              </a:ext>
            </a:extLst>
          </p:cNvPr>
          <p:cNvSpPr txBox="1">
            <a:spLocks/>
          </p:cNvSpPr>
          <p:nvPr userDrawn="1"/>
        </p:nvSpPr>
        <p:spPr>
          <a:xfrm>
            <a:off x="457200" y="210636"/>
            <a:ext cx="8229600" cy="560552"/>
          </a:xfrm>
          <a:prstGeom prst="rect">
            <a:avLst/>
          </a:prstGeom>
        </p:spPr>
        <p:txBody>
          <a:bodyPr>
            <a:noAutofit/>
          </a:bodyPr>
          <a:lstStyle>
            <a:lvl1pPr algn="l" defTabSz="457200" rtl="0" eaLnBrk="1" latinLnBrk="0" hangingPunct="1">
              <a:spcBef>
                <a:spcPct val="0"/>
              </a:spcBef>
              <a:buNone/>
              <a:defRPr sz="3600" kern="1200">
                <a:solidFill>
                  <a:srgbClr val="FFFFFF"/>
                </a:solidFill>
                <a:latin typeface="+mj-lt"/>
                <a:ea typeface="+mj-ea"/>
                <a:cs typeface="+mj-cs"/>
              </a:defRPr>
            </a:lvl1pPr>
          </a:lstStyle>
          <a:p>
            <a:pPr algn="ctr"/>
            <a:r>
              <a:rPr lang="en-US" dirty="0">
                <a:solidFill>
                  <a:schemeClr val="tx1"/>
                </a:solidFill>
              </a:rPr>
              <a:t>Click to edit Master title style</a:t>
            </a:r>
          </a:p>
        </p:txBody>
      </p:sp>
    </p:spTree>
    <p:extLst>
      <p:ext uri="{BB962C8B-B14F-4D97-AF65-F5344CB8AC3E}">
        <p14:creationId xmlns:p14="http://schemas.microsoft.com/office/powerpoint/2010/main" val="27987865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649" r:id="rId10"/>
    <p:sldLayoutId id="2147483659" r:id="rId11"/>
    <p:sldLayoutId id="2147483658" r:id="rId12"/>
    <p:sldLayoutId id="2147483664" r:id="rId13"/>
    <p:sldLayoutId id="2147483662" r:id="rId14"/>
    <p:sldLayoutId id="2147483665" r:id="rId15"/>
    <p:sldLayoutId id="2147483660" r:id="rId16"/>
    <p:sldLayoutId id="2147483661" r:id="rId17"/>
    <p:sldLayoutId id="2147483663" r:id="rId1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B06A7D5-89E7-EAD9-D088-2A2125602967}"/>
              </a:ext>
            </a:extLst>
          </p:cNvPr>
          <p:cNvPicPr>
            <a:picLocks noChangeAspect="1"/>
          </p:cNvPicPr>
          <p:nvPr/>
        </p:nvPicPr>
        <p:blipFill>
          <a:blip r:embed="rId2"/>
          <a:stretch>
            <a:fillRect/>
          </a:stretch>
        </p:blipFill>
        <p:spPr>
          <a:xfrm>
            <a:off x="1709962" y="265417"/>
            <a:ext cx="3673828" cy="838095"/>
          </a:xfrm>
          <a:prstGeom prst="rect">
            <a:avLst/>
          </a:prstGeom>
        </p:spPr>
      </p:pic>
      <p:sp>
        <p:nvSpPr>
          <p:cNvPr id="7" name="Subtitle 6">
            <a:extLst>
              <a:ext uri="{FF2B5EF4-FFF2-40B4-BE49-F238E27FC236}">
                <a16:creationId xmlns:a16="http://schemas.microsoft.com/office/drawing/2014/main" id="{5E025FF1-FA05-58E9-B110-E456E82B45AC}"/>
              </a:ext>
            </a:extLst>
          </p:cNvPr>
          <p:cNvSpPr>
            <a:spLocks noGrp="1"/>
          </p:cNvSpPr>
          <p:nvPr>
            <p:ph type="subTitle" idx="1"/>
          </p:nvPr>
        </p:nvSpPr>
        <p:spPr>
          <a:xfrm>
            <a:off x="1652594" y="652894"/>
            <a:ext cx="6933141" cy="674899"/>
          </a:xfrm>
        </p:spPr>
        <p:txBody>
          <a:bodyPr>
            <a:noAutofit/>
          </a:bodyPr>
          <a:lstStyle/>
          <a:p>
            <a:r>
              <a:rPr lang="en-US" sz="3600" b="1"/>
              <a:t>Exam AZ-801: Configuring Windows Server Hybrid Advanced Services, 2nd Ed </a:t>
            </a:r>
            <a:endParaRPr lang="en-US" sz="3600" b="1" dirty="0"/>
          </a:p>
        </p:txBody>
      </p:sp>
      <p:sp>
        <p:nvSpPr>
          <p:cNvPr id="9" name="Text Placeholder 8">
            <a:extLst>
              <a:ext uri="{FF2B5EF4-FFF2-40B4-BE49-F238E27FC236}">
                <a16:creationId xmlns:a16="http://schemas.microsoft.com/office/drawing/2014/main" id="{A656C324-4E4C-B0F4-6DC5-3C9DDA851E78}"/>
              </a:ext>
            </a:extLst>
          </p:cNvPr>
          <p:cNvSpPr>
            <a:spLocks noGrp="1"/>
          </p:cNvSpPr>
          <p:nvPr>
            <p:ph type="body" sz="quarter" idx="11"/>
          </p:nvPr>
        </p:nvSpPr>
        <p:spPr/>
        <p:txBody>
          <a:bodyPr/>
          <a:lstStyle/>
          <a:p>
            <a:r>
              <a:rPr lang="en-US" dirty="0"/>
              <a:t>Tim Warner</a:t>
            </a:r>
          </a:p>
        </p:txBody>
      </p:sp>
      <p:sp>
        <p:nvSpPr>
          <p:cNvPr id="10" name="Text Placeholder 9">
            <a:extLst>
              <a:ext uri="{FF2B5EF4-FFF2-40B4-BE49-F238E27FC236}">
                <a16:creationId xmlns:a16="http://schemas.microsoft.com/office/drawing/2014/main" id="{25C667F3-A6DD-AE8F-325F-B5B6FE741D98}"/>
              </a:ext>
            </a:extLst>
          </p:cNvPr>
          <p:cNvSpPr>
            <a:spLocks noGrp="1"/>
          </p:cNvSpPr>
          <p:nvPr>
            <p:ph type="body" sz="quarter" idx="12"/>
          </p:nvPr>
        </p:nvSpPr>
        <p:spPr>
          <a:xfrm>
            <a:off x="3462347" y="3648402"/>
            <a:ext cx="3023362" cy="584200"/>
          </a:xfrm>
        </p:spPr>
        <p:txBody>
          <a:bodyPr/>
          <a:lstStyle/>
          <a:p>
            <a:r>
              <a:rPr lang="en-US" dirty="0"/>
              <a:t>Microsoft Certified Trainer and Microsoft MVP</a:t>
            </a:r>
          </a:p>
        </p:txBody>
      </p:sp>
      <p:pic>
        <p:nvPicPr>
          <p:cNvPr id="5" name="Picture Placeholder 4" descr="A person wearing glasses and a black jacket&#10;&#10;AI-generated content may be incorrect.">
            <a:extLst>
              <a:ext uri="{FF2B5EF4-FFF2-40B4-BE49-F238E27FC236}">
                <a16:creationId xmlns:a16="http://schemas.microsoft.com/office/drawing/2014/main" id="{272C23CC-6DAA-D474-5879-59974AA40D0F}"/>
              </a:ext>
            </a:extLst>
          </p:cNvPr>
          <p:cNvPicPr>
            <a:picLocks noGrp="1" noChangeAspect="1"/>
          </p:cNvPicPr>
          <p:nvPr>
            <p:ph type="pic" sz="quarter" idx="10"/>
          </p:nvPr>
        </p:nvPicPr>
        <p:blipFill>
          <a:blip r:embed="rId3"/>
          <a:srcRect l="2378" r="2378"/>
          <a:stretch>
            <a:fillRect/>
          </a:stretch>
        </p:blipFill>
        <p:spPr>
          <a:xfrm>
            <a:off x="2294356" y="3064110"/>
            <a:ext cx="1112885" cy="1168586"/>
          </a:xfrm>
        </p:spPr>
      </p:pic>
    </p:spTree>
    <p:extLst>
      <p:ext uri="{BB962C8B-B14F-4D97-AF65-F5344CB8AC3E}">
        <p14:creationId xmlns:p14="http://schemas.microsoft.com/office/powerpoint/2010/main" val="3662525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loud with icons&#10;&#10;AI-generated content may be incorrect.">
            <a:extLst>
              <a:ext uri="{FF2B5EF4-FFF2-40B4-BE49-F238E27FC236}">
                <a16:creationId xmlns:a16="http://schemas.microsoft.com/office/drawing/2014/main" id="{1FA7CD43-BA80-82DD-E644-E85660A8EAFB}"/>
              </a:ext>
            </a:extLst>
          </p:cNvPr>
          <p:cNvPicPr>
            <a:picLocks noChangeAspect="1"/>
          </p:cNvPicPr>
          <p:nvPr/>
        </p:nvPicPr>
        <p:blipFill>
          <a:blip r:embed="rId3"/>
          <a:stretch>
            <a:fillRect/>
          </a:stretch>
        </p:blipFill>
        <p:spPr>
          <a:xfrm>
            <a:off x="604995" y="741009"/>
            <a:ext cx="3617287" cy="3156082"/>
          </a:xfrm>
          <a:prstGeom prst="rect">
            <a:avLst/>
          </a:prstGeom>
          <a:noFill/>
          <a:effectLst>
            <a:outerShdw blurRad="50800" dist="38100" dir="5400000" algn="t" rotWithShape="0">
              <a:prstClr val="black">
                <a:alpha val="40000"/>
              </a:prstClr>
            </a:outerShdw>
          </a:effectLst>
        </p:spPr>
      </p:pic>
      <p:sp>
        <p:nvSpPr>
          <p:cNvPr id="2" name="Text Placeholder 1">
            <a:extLst>
              <a:ext uri="{FF2B5EF4-FFF2-40B4-BE49-F238E27FC236}">
                <a16:creationId xmlns:a16="http://schemas.microsoft.com/office/drawing/2014/main" id="{2E785BEF-5805-305A-23FF-1BB88D477F88}"/>
              </a:ext>
            </a:extLst>
          </p:cNvPr>
          <p:cNvSpPr>
            <a:spLocks noGrp="1"/>
          </p:cNvSpPr>
          <p:nvPr>
            <p:ph type="body" sz="quarter" idx="11"/>
          </p:nvPr>
        </p:nvSpPr>
        <p:spPr>
          <a:xfrm>
            <a:off x="4620635" y="382901"/>
            <a:ext cx="3966571" cy="863804"/>
          </a:xfrm>
        </p:spPr>
        <p:txBody>
          <a:bodyPr>
            <a:normAutofit/>
          </a:bodyPr>
          <a:lstStyle/>
          <a:p>
            <a:r>
              <a:rPr lang="en-US" dirty="0"/>
              <a:t>Lesson 25: Troubleshoot Advanced Issues</a:t>
            </a:r>
          </a:p>
        </p:txBody>
      </p:sp>
      <p:sp>
        <p:nvSpPr>
          <p:cNvPr id="3" name="Text Placeholder 2">
            <a:extLst>
              <a:ext uri="{FF2B5EF4-FFF2-40B4-BE49-F238E27FC236}">
                <a16:creationId xmlns:a16="http://schemas.microsoft.com/office/drawing/2014/main" id="{E3CDC3F4-DF86-6837-4352-BE6EBD430460}"/>
              </a:ext>
            </a:extLst>
          </p:cNvPr>
          <p:cNvSpPr>
            <a:spLocks noGrp="1"/>
          </p:cNvSpPr>
          <p:nvPr>
            <p:ph type="body" sz="quarter" idx="12"/>
          </p:nvPr>
        </p:nvSpPr>
        <p:spPr>
          <a:xfrm>
            <a:off x="5290686" y="1246704"/>
            <a:ext cx="3516430" cy="2979037"/>
          </a:xfrm>
        </p:spPr>
        <p:txBody>
          <a:bodyPr>
            <a:noAutofit/>
          </a:bodyPr>
          <a:lstStyle/>
          <a:p>
            <a:pPr>
              <a:spcBef>
                <a:spcPts val="200"/>
              </a:spcBef>
              <a:spcAft>
                <a:spcPts val="400"/>
              </a:spcAft>
            </a:pPr>
            <a:r>
              <a:rPr lang="en-US" dirty="0"/>
              <a:t>25.1. Troubleshoot performance issues </a:t>
            </a:r>
          </a:p>
          <a:p>
            <a:pPr>
              <a:spcBef>
                <a:spcPts val="200"/>
              </a:spcBef>
              <a:spcAft>
                <a:spcPts val="400"/>
              </a:spcAft>
            </a:pPr>
            <a:r>
              <a:rPr lang="en-US" dirty="0"/>
              <a:t>25.2. Troubleshoot VM and Azure Arc extension issues </a:t>
            </a:r>
          </a:p>
          <a:p>
            <a:pPr>
              <a:spcBef>
                <a:spcPts val="200"/>
              </a:spcBef>
              <a:spcAft>
                <a:spcPts val="400"/>
              </a:spcAft>
            </a:pPr>
            <a:r>
              <a:rPr lang="en-US" dirty="0"/>
              <a:t>25.3. Troubleshoot disk encryption issues </a:t>
            </a:r>
          </a:p>
          <a:p>
            <a:pPr>
              <a:spcBef>
                <a:spcPts val="200"/>
              </a:spcBef>
              <a:spcAft>
                <a:spcPts val="400"/>
              </a:spcAft>
            </a:pPr>
            <a:r>
              <a:rPr lang="en-US" dirty="0"/>
              <a:t>25.4. Troubleshoot storage </a:t>
            </a:r>
          </a:p>
          <a:p>
            <a:pPr>
              <a:spcBef>
                <a:spcPts val="200"/>
              </a:spcBef>
              <a:spcAft>
                <a:spcPts val="400"/>
              </a:spcAft>
            </a:pPr>
            <a:r>
              <a:rPr lang="en-US" dirty="0"/>
              <a:t>25.5 Troubleshoot Azure Arc server extension issues</a:t>
            </a:r>
          </a:p>
          <a:p>
            <a:pPr>
              <a:spcBef>
                <a:spcPts val="200"/>
              </a:spcBef>
              <a:spcAft>
                <a:spcPts val="400"/>
              </a:spcAft>
            </a:pPr>
            <a:endParaRPr lang="en-US" dirty="0"/>
          </a:p>
        </p:txBody>
      </p:sp>
    </p:spTree>
    <p:extLst>
      <p:ext uri="{BB962C8B-B14F-4D97-AF65-F5344CB8AC3E}">
        <p14:creationId xmlns:p14="http://schemas.microsoft.com/office/powerpoint/2010/main" val="2539485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25.1 Troubleshoot performance issues </a:t>
            </a:r>
          </a:p>
        </p:txBody>
      </p:sp>
    </p:spTree>
    <p:extLst>
      <p:ext uri="{BB962C8B-B14F-4D97-AF65-F5344CB8AC3E}">
        <p14:creationId xmlns:p14="http://schemas.microsoft.com/office/powerpoint/2010/main" val="48666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198258" cy="463628"/>
          </a:xfrm>
        </p:spPr>
        <p:txBody>
          <a:bodyPr/>
          <a:lstStyle/>
          <a:p>
            <a:r>
              <a:rPr lang="en-US" sz="2400"/>
              <a:t>Resolve complex hybrid and infrastructure problems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Beyond core services, advanced issues include performance, VM extensions, disk encryption, and storage</a:t>
            </a:r>
          </a:p>
          <a:p>
            <a:r>
              <a:rPr lang="en-US" sz="1800" dirty="0"/>
              <a:t>Problems often span on-premises and Azure environments</a:t>
            </a:r>
          </a:p>
          <a:p>
            <a:r>
              <a:rPr lang="en-US" sz="1800" dirty="0"/>
              <a:t>Requires deeper use of logs, diagnostic tools, and PowerShell</a:t>
            </a:r>
          </a:p>
          <a:p>
            <a:r>
              <a:rPr lang="en-US" sz="1800" dirty="0"/>
              <a:t>Structured troubleshooting shortens mean time to recovery</a:t>
            </a:r>
          </a:p>
          <a:p>
            <a:r>
              <a:rPr lang="en-US" sz="1800" dirty="0"/>
              <a:t>Contoso escalates advanced issues to Tier 3 with clear runbooks</a:t>
            </a:r>
          </a:p>
        </p:txBody>
      </p:sp>
    </p:spTree>
    <p:extLst>
      <p:ext uri="{BB962C8B-B14F-4D97-AF65-F5344CB8AC3E}">
        <p14:creationId xmlns:p14="http://schemas.microsoft.com/office/powerpoint/2010/main" val="3409624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Identify and remediate system bottlenecks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Use Performance Monitor counters to isolate CPU, memory, disk, or network bottlenecks</a:t>
            </a:r>
          </a:p>
          <a:p>
            <a:r>
              <a:rPr lang="en-US" sz="1800" dirty="0"/>
              <a:t>Compare against baselines to detect anomalies</a:t>
            </a:r>
          </a:p>
          <a:p>
            <a:r>
              <a:rPr lang="en-US" sz="1800" dirty="0"/>
              <a:t>Data Collector Sets provide long-term visibility</a:t>
            </a:r>
          </a:p>
          <a:p>
            <a:r>
              <a:rPr lang="en-US" sz="1800" dirty="0"/>
              <a:t>System Insights forecasts resource shortfalls</a:t>
            </a:r>
          </a:p>
          <a:p>
            <a:r>
              <a:rPr lang="en-US" sz="1800" dirty="0" err="1"/>
              <a:t>Fabrikam</a:t>
            </a:r>
            <a:r>
              <a:rPr lang="en-US" sz="1800" dirty="0"/>
              <a:t> resolves SQL latency by tracing disk I/O bottlenecks</a:t>
            </a:r>
          </a:p>
        </p:txBody>
      </p:sp>
    </p:spTree>
    <p:extLst>
      <p:ext uri="{BB962C8B-B14F-4D97-AF65-F5344CB8AC3E}">
        <p14:creationId xmlns:p14="http://schemas.microsoft.com/office/powerpoint/2010/main" val="883400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25.2 Troubleshoot VM and Azure Arc extension issues </a:t>
            </a:r>
          </a:p>
        </p:txBody>
      </p:sp>
    </p:spTree>
    <p:extLst>
      <p:ext uri="{BB962C8B-B14F-4D97-AF65-F5344CB8AC3E}">
        <p14:creationId xmlns:p14="http://schemas.microsoft.com/office/powerpoint/2010/main" val="18290400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255408" cy="463628"/>
          </a:xfrm>
        </p:spPr>
        <p:txBody>
          <a:bodyPr/>
          <a:lstStyle/>
          <a:p>
            <a:r>
              <a:rPr lang="en-US" sz="2400"/>
              <a:t>Resolve problems with VM agents and Arc extensions</a:t>
            </a:r>
            <a:endParaRPr lang="en-US" sz="2400"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Check Azure Resource Health and VM agent logs</a:t>
            </a:r>
          </a:p>
          <a:p>
            <a:r>
              <a:rPr lang="en-US" sz="1800" dirty="0"/>
              <a:t>Validate extension installation status in Azure portal</a:t>
            </a:r>
          </a:p>
          <a:p>
            <a:r>
              <a:rPr lang="en-US" sz="1800" dirty="0"/>
              <a:t>Restart extension services or reapply deployment</a:t>
            </a:r>
          </a:p>
          <a:p>
            <a:r>
              <a:rPr lang="en-US" sz="1800" dirty="0"/>
              <a:t>Confirm Arc connectivity via Log Analytics heartbeat</a:t>
            </a:r>
          </a:p>
          <a:p>
            <a:r>
              <a:rPr lang="en-US" sz="1800" dirty="0">
                <a:latin typeface="Open Sans"/>
                <a:ea typeface="Open Sans"/>
                <a:cs typeface="Open Sans"/>
              </a:rPr>
              <a:t>Tailwind Traders resolves monitoring gaps by reinstalling </a:t>
            </a:r>
            <a:br>
              <a:rPr lang="en-US" sz="1800" dirty="0">
                <a:latin typeface="Open Sans"/>
                <a:ea typeface="Open Sans"/>
                <a:cs typeface="Open Sans"/>
              </a:rPr>
            </a:br>
            <a:r>
              <a:rPr lang="en-US" sz="1800">
                <a:latin typeface="Open Sans"/>
                <a:ea typeface="Open Sans"/>
                <a:cs typeface="Open Sans"/>
              </a:rPr>
              <a:t>Arc </a:t>
            </a:r>
            <a:r>
              <a:rPr lang="en-US" sz="1800" dirty="0">
                <a:latin typeface="Open Sans"/>
                <a:ea typeface="Open Sans"/>
                <a:cs typeface="Open Sans"/>
              </a:rPr>
              <a:t>agent</a:t>
            </a:r>
          </a:p>
        </p:txBody>
      </p:sp>
    </p:spTree>
    <p:extLst>
      <p:ext uri="{BB962C8B-B14F-4D97-AF65-F5344CB8AC3E}">
        <p14:creationId xmlns:p14="http://schemas.microsoft.com/office/powerpoint/2010/main" val="4099914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dirty="0">
                <a:solidFill>
                  <a:srgbClr val="0978D8"/>
                </a:solidFill>
              </a:rPr>
              <a:t>25.3 Troubleshoot disk encryption issues </a:t>
            </a:r>
          </a:p>
        </p:txBody>
      </p:sp>
    </p:spTree>
    <p:extLst>
      <p:ext uri="{BB962C8B-B14F-4D97-AF65-F5344CB8AC3E}">
        <p14:creationId xmlns:p14="http://schemas.microsoft.com/office/powerpoint/2010/main" val="9479079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a:t>Diagnose and fix encryption-related problems</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Verify BitLocker protector status with manage-</a:t>
            </a:r>
            <a:r>
              <a:rPr lang="en-US" sz="1800" dirty="0" err="1"/>
              <a:t>bde</a:t>
            </a:r>
            <a:endParaRPr lang="en-US" sz="1800" dirty="0"/>
          </a:p>
          <a:p>
            <a:r>
              <a:rPr lang="en-US" sz="1800" dirty="0"/>
              <a:t>Check Azure Disk Encryption extension logs for errors</a:t>
            </a:r>
          </a:p>
          <a:p>
            <a:r>
              <a:rPr lang="en-US" sz="1800" dirty="0"/>
              <a:t>Confirm Key Vault access and permissions</a:t>
            </a:r>
          </a:p>
          <a:p>
            <a:r>
              <a:rPr lang="en-US" sz="1800" dirty="0"/>
              <a:t>Rotate keys to resolve corruption or mismatch</a:t>
            </a:r>
          </a:p>
          <a:p>
            <a:r>
              <a:rPr lang="en-US" sz="1800" dirty="0">
                <a:latin typeface="Open Sans"/>
                <a:ea typeface="Open Sans"/>
                <a:cs typeface="Open Sans"/>
              </a:rPr>
              <a:t>Adventure Works restores access by reattaching Key Vault </a:t>
            </a:r>
            <a:br>
              <a:rPr lang="en-US" sz="1800" dirty="0">
                <a:latin typeface="Open Sans"/>
                <a:ea typeface="Open Sans"/>
                <a:cs typeface="Open Sans"/>
              </a:rPr>
            </a:br>
            <a:r>
              <a:rPr lang="en-US" sz="1800" dirty="0">
                <a:latin typeface="Open Sans"/>
                <a:ea typeface="Open Sans"/>
                <a:cs typeface="Open Sans"/>
              </a:rPr>
              <a:t>to VM</a:t>
            </a:r>
          </a:p>
        </p:txBody>
      </p:sp>
    </p:spTree>
    <p:extLst>
      <p:ext uri="{BB962C8B-B14F-4D97-AF65-F5344CB8AC3E}">
        <p14:creationId xmlns:p14="http://schemas.microsoft.com/office/powerpoint/2010/main" val="3259810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25.4 </a:t>
            </a:r>
            <a:r>
              <a:rPr lang="en-US" sz="3600" dirty="0">
                <a:solidFill>
                  <a:srgbClr val="0978D8"/>
                </a:solidFill>
              </a:rPr>
              <a:t>Troubleshoot storage </a:t>
            </a:r>
          </a:p>
        </p:txBody>
      </p:sp>
    </p:spTree>
    <p:extLst>
      <p:ext uri="{BB962C8B-B14F-4D97-AF65-F5344CB8AC3E}">
        <p14:creationId xmlns:p14="http://schemas.microsoft.com/office/powerpoint/2010/main" val="1674727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a:xfrm>
            <a:off x="793342" y="9336"/>
            <a:ext cx="8350658" cy="463628"/>
          </a:xfrm>
        </p:spPr>
        <p:txBody>
          <a:bodyPr/>
          <a:lstStyle/>
          <a:p>
            <a:r>
              <a:rPr lang="en-US"/>
              <a:t>Resolve issues with on-premises and Azure storage</a:t>
            </a:r>
            <a:endParaRPr lang="en-US" dirty="0"/>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Check Storage Spaces Direct (S2D) health with PowerShell</a:t>
            </a:r>
          </a:p>
          <a:p>
            <a:r>
              <a:rPr lang="en-US" sz="1800" dirty="0"/>
              <a:t>Validate cluster shared volume (CSV) status</a:t>
            </a:r>
          </a:p>
          <a:p>
            <a:r>
              <a:rPr lang="en-US" sz="1800" dirty="0"/>
              <a:t>In Azure, confirm managed disk state and storage account health</a:t>
            </a:r>
          </a:p>
          <a:p>
            <a:r>
              <a:rPr lang="en-US" sz="1800" dirty="0"/>
              <a:t>Review IOPS and throughput limits for performance issues</a:t>
            </a:r>
          </a:p>
          <a:p>
            <a:r>
              <a:rPr lang="en-US" sz="1800" dirty="0" err="1"/>
              <a:t>Fabrikam</a:t>
            </a:r>
            <a:r>
              <a:rPr lang="en-US" sz="1800" dirty="0"/>
              <a:t> resolves outage by replacing failed S2D node</a:t>
            </a:r>
          </a:p>
        </p:txBody>
      </p:sp>
    </p:spTree>
    <p:extLst>
      <p:ext uri="{BB962C8B-B14F-4D97-AF65-F5344CB8AC3E}">
        <p14:creationId xmlns:p14="http://schemas.microsoft.com/office/powerpoint/2010/main" val="22612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5">
            <a:extLst>
              <a:ext uri="{FF2B5EF4-FFF2-40B4-BE49-F238E27FC236}">
                <a16:creationId xmlns:a16="http://schemas.microsoft.com/office/drawing/2014/main" id="{7CE19171-B11A-F0B2-D185-CC8FB87A16DC}"/>
              </a:ext>
            </a:extLst>
          </p:cNvPr>
          <p:cNvSpPr txBox="1">
            <a:spLocks/>
          </p:cNvSpPr>
          <p:nvPr/>
        </p:nvSpPr>
        <p:spPr>
          <a:xfrm>
            <a:off x="1500187" y="1971242"/>
            <a:ext cx="6143625" cy="771525"/>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Font typeface="Arial"/>
              <a:buNone/>
            </a:pPr>
            <a:r>
              <a:rPr lang="en-US" sz="3600">
                <a:solidFill>
                  <a:srgbClr val="0978D8"/>
                </a:solidFill>
              </a:rPr>
              <a:t>25.5 Troubleshoot Azure Arc server extension issues</a:t>
            </a:r>
            <a:endParaRPr lang="en-US" sz="3600" dirty="0">
              <a:solidFill>
                <a:srgbClr val="0978D8"/>
              </a:solidFill>
            </a:endParaRPr>
          </a:p>
        </p:txBody>
      </p:sp>
    </p:spTree>
    <p:extLst>
      <p:ext uri="{BB962C8B-B14F-4D97-AF65-F5344CB8AC3E}">
        <p14:creationId xmlns:p14="http://schemas.microsoft.com/office/powerpoint/2010/main" val="2056036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E03C8-8D21-7742-BC45-5373CF43F0B8}"/>
              </a:ext>
            </a:extLst>
          </p:cNvPr>
          <p:cNvSpPr>
            <a:spLocks noGrp="1"/>
          </p:cNvSpPr>
          <p:nvPr>
            <p:ph type="title"/>
          </p:nvPr>
        </p:nvSpPr>
        <p:spPr/>
        <p:txBody>
          <a:bodyPr/>
          <a:lstStyle/>
          <a:p>
            <a:r>
              <a:rPr lang="en-US" dirty="0"/>
              <a:t>Address failures in Arc-managed extensions</a:t>
            </a:r>
          </a:p>
        </p:txBody>
      </p:sp>
      <p:sp>
        <p:nvSpPr>
          <p:cNvPr id="3" name="Content Placeholder 2">
            <a:extLst>
              <a:ext uri="{FF2B5EF4-FFF2-40B4-BE49-F238E27FC236}">
                <a16:creationId xmlns:a16="http://schemas.microsoft.com/office/drawing/2014/main" id="{514D88C4-C6AF-3654-026D-9E5843DEC367}"/>
              </a:ext>
            </a:extLst>
          </p:cNvPr>
          <p:cNvSpPr>
            <a:spLocks noGrp="1"/>
          </p:cNvSpPr>
          <p:nvPr>
            <p:ph idx="1"/>
          </p:nvPr>
        </p:nvSpPr>
        <p:spPr>
          <a:xfrm>
            <a:off x="900501" y="782059"/>
            <a:ext cx="7197363" cy="4310743"/>
          </a:xfrm>
        </p:spPr>
        <p:txBody>
          <a:bodyPr vert="horz" lIns="91440" tIns="45720" rIns="91440" bIns="45720" rtlCol="0" anchor="t">
            <a:noAutofit/>
          </a:bodyPr>
          <a:lstStyle/>
          <a:p>
            <a:r>
              <a:rPr lang="en-US" sz="1800" dirty="0"/>
              <a:t>Review extension logs under C:\ProgramData\AzureConnectedMachineAgent</a:t>
            </a:r>
          </a:p>
          <a:p>
            <a:r>
              <a:rPr lang="en-US" sz="1800" dirty="0"/>
              <a:t>Check policy assignments for conflicts or missing dependencies</a:t>
            </a:r>
          </a:p>
          <a:p>
            <a:r>
              <a:rPr lang="en-US" sz="1800" dirty="0"/>
              <a:t>Restart Connected Machine Agent service if unresponsive</a:t>
            </a:r>
          </a:p>
          <a:p>
            <a:r>
              <a:rPr lang="en-US" sz="1800" dirty="0"/>
              <a:t>Reinstall problematic extensions through Azure portal </a:t>
            </a:r>
            <a:r>
              <a:rPr lang="en-US" sz="1800"/>
              <a:t>or CLI</a:t>
            </a:r>
          </a:p>
          <a:p>
            <a:r>
              <a:rPr lang="en-US" sz="1800"/>
              <a:t>Contoso </a:t>
            </a:r>
            <a:r>
              <a:rPr lang="en-US" sz="1800" dirty="0"/>
              <a:t>resolves drift by redeploying monitoring extensions via Arc policy</a:t>
            </a:r>
          </a:p>
        </p:txBody>
      </p:sp>
    </p:spTree>
    <p:extLst>
      <p:ext uri="{BB962C8B-B14F-4D97-AF65-F5344CB8AC3E}">
        <p14:creationId xmlns:p14="http://schemas.microsoft.com/office/powerpoint/2010/main" val="40923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9E237-BA0D-A6D7-ABE0-D61274209EBE}"/>
              </a:ext>
            </a:extLst>
          </p:cNvPr>
          <p:cNvSpPr>
            <a:spLocks noGrp="1"/>
          </p:cNvSpPr>
          <p:nvPr>
            <p:ph type="title"/>
          </p:nvPr>
        </p:nvSpPr>
        <p:spPr/>
        <p:txBody>
          <a:bodyPr/>
          <a:lstStyle/>
          <a:p>
            <a:r>
              <a:rPr lang="en-US" dirty="0"/>
              <a:t>Diagram title in sentence case</a:t>
            </a:r>
          </a:p>
        </p:txBody>
      </p:sp>
      <p:sp>
        <p:nvSpPr>
          <p:cNvPr id="8" name="Rectangle: Rounded Corners 7">
            <a:extLst>
              <a:ext uri="{FF2B5EF4-FFF2-40B4-BE49-F238E27FC236}">
                <a16:creationId xmlns:a16="http://schemas.microsoft.com/office/drawing/2014/main" id="{1155EB2F-7448-A2AA-7CA9-989CB37A3F86}"/>
              </a:ext>
            </a:extLst>
          </p:cNvPr>
          <p:cNvSpPr/>
          <p:nvPr/>
        </p:nvSpPr>
        <p:spPr>
          <a:xfrm>
            <a:off x="2673037" y="4599417"/>
            <a:ext cx="3797925" cy="46362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latin typeface="Segoe Pro Display" panose="020B0502040504020203" pitchFamily="34" charset="0"/>
                <a:ea typeface="JetBrains Mono" panose="02000009000000000000" pitchFamily="49" charset="0"/>
                <a:cs typeface="Poppins Light" panose="00000400000000000000" pitchFamily="2" charset="0"/>
              </a:rPr>
              <a:t>go.techtrainertim.com/blah</a:t>
            </a:r>
          </a:p>
        </p:txBody>
      </p:sp>
    </p:spTree>
    <p:extLst>
      <p:ext uri="{BB962C8B-B14F-4D97-AF65-F5344CB8AC3E}">
        <p14:creationId xmlns:p14="http://schemas.microsoft.com/office/powerpoint/2010/main" val="4080705565"/>
      </p:ext>
    </p:extLst>
  </p:cSld>
  <p:clrMapOvr>
    <a:masterClrMapping/>
  </p:clrMapOvr>
</p:sld>
</file>

<file path=ppt/theme/theme1.xml><?xml version="1.0" encoding="utf-8"?>
<a:theme xmlns:a="http://schemas.openxmlformats.org/drawingml/2006/main" name="Standard_LiveLessons_2017">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defRPr sz="1200" b="0" baseline="0" dirty="0" smtClean="0">
            <a:solidFill>
              <a:srgbClr val="454D4E"/>
            </a:solidFill>
            <a:latin typeface="Open Sans" panose="020B0606030504020204" pitchFamily="34" charset="0"/>
          </a:defRPr>
        </a:defPPr>
      </a:lstStyle>
    </a:txDef>
  </a:objectDefaults>
  <a:extraClrSchemeLst/>
  <a:extLst>
    <a:ext uri="{05A4C25C-085E-4340-85A3-A5531E510DB2}">
      <thm15:themeFamily xmlns:thm15="http://schemas.microsoft.com/office/thememl/2012/main" name="Standard_LiveLessons_2016.potm" id="{8C1633E9-E98A-446F-92F4-E3D84D4249FA}" vid="{A44C486B-6B48-42BE-B4AA-FE194AC1400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EB942DAA29B6641B847DD25AB6364DF" ma:contentTypeVersion="20" ma:contentTypeDescription="Create a new document." ma:contentTypeScope="" ma:versionID="e60464b2502f4f4c6d575a702f4efcf7">
  <xsd:schema xmlns:xsd="http://www.w3.org/2001/XMLSchema" xmlns:xs="http://www.w3.org/2001/XMLSchema" xmlns:p="http://schemas.microsoft.com/office/2006/metadata/properties" xmlns:ns1="http://schemas.microsoft.com/sharepoint/v3" xmlns:ns2="1501a101-02f8-4cb9-8ad4-ac4c2bb50a5e" xmlns:ns3="53af226d-ba0a-4b77-ace2-7e16defb8490" targetNamespace="http://schemas.microsoft.com/office/2006/metadata/properties" ma:root="true" ma:fieldsID="c75e329bb324eb7f1fd76e0ecf7fa1c1" ns1:_="" ns2:_="" ns3:_="">
    <xsd:import namespace="http://schemas.microsoft.com/sharepoint/v3"/>
    <xsd:import namespace="1501a101-02f8-4cb9-8ad4-ac4c2bb50a5e"/>
    <xsd:import namespace="53af226d-ba0a-4b77-ace2-7e16defb849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DateTaken" minOccurs="0"/>
                <xsd:element ref="ns2:MediaServiceObjectDetectorVersions"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501a101-02f8-4cb9-8ad4-ac4c2bb50a5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DateTaken" ma:index="22" nillable="true" ma:displayName="MediaServiceDateTaken" ma:hidden="true" ma:indexed="true" ma:internalName="MediaServiceDateTaken" ma:readOnly="true">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3af226d-ba0a-4b77-ace2-7e16defb849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0f1b6984-261b-4571-b7f9-8a6d366cc3e2}" ma:internalName="TaxCatchAll" ma:showField="CatchAllData" ma:web="53af226d-ba0a-4b77-ace2-7e16defb849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501a101-02f8-4cb9-8ad4-ac4c2bb50a5e">
      <Terms xmlns="http://schemas.microsoft.com/office/infopath/2007/PartnerControls"/>
    </lcf76f155ced4ddcb4097134ff3c332f>
    <TaxCatchAll xmlns="53af226d-ba0a-4b77-ace2-7e16defb8490" xsi:nil="true"/>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920C99BF-5DBB-4E5E-8232-1660DCDA7D83}">
  <ds:schemaRefs>
    <ds:schemaRef ds:uri="http://schemas.microsoft.com/sharepoint/v3/contenttype/forms"/>
  </ds:schemaRefs>
</ds:datastoreItem>
</file>

<file path=customXml/itemProps2.xml><?xml version="1.0" encoding="utf-8"?>
<ds:datastoreItem xmlns:ds="http://schemas.openxmlformats.org/officeDocument/2006/customXml" ds:itemID="{6A30215E-83BA-423B-9BAD-667658263ED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01a101-02f8-4cb9-8ad4-ac4c2bb50a5e"/>
    <ds:schemaRef ds:uri="53af226d-ba0a-4b77-ace2-7e16defb849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7303C75-6DA1-4624-8E1F-10C605E57646}">
  <ds:schemaRefs>
    <ds:schemaRef ds:uri="http://schemas.openxmlformats.org/package/2006/metadata/core-properties"/>
    <ds:schemaRef ds:uri="http://purl.org/dc/elements/1.1/"/>
    <ds:schemaRef ds:uri="http://purl.org/dc/dcmitype/"/>
    <ds:schemaRef ds:uri="http://schemas.microsoft.com/office/2006/metadata/properties"/>
    <ds:schemaRef ds:uri="http://purl.org/dc/terms/"/>
    <ds:schemaRef ds:uri="http://schemas.microsoft.com/office/2006/documentManagement/types"/>
    <ds:schemaRef ds:uri="http://www.w3.org/XML/1998/namespace"/>
    <ds:schemaRef ds:uri="http://schemas.microsoft.com/office/infopath/2007/PartnerControls"/>
    <ds:schemaRef ds:uri="53af226d-ba0a-4b77-ace2-7e16defb8490"/>
    <ds:schemaRef ds:uri="1501a101-02f8-4cb9-8ad4-ac4c2bb50a5e"/>
    <ds:schemaRef ds:uri="http://schemas.microsoft.com/sharepoint/v3"/>
  </ds:schemaRefs>
</ds:datastoreItem>
</file>

<file path=docMetadata/LabelInfo.xml><?xml version="1.0" encoding="utf-8"?>
<clbl:labelList xmlns:clbl="http://schemas.microsoft.com/office/2020/mipLabelMetadata">
  <clbl:label id="{8cc434d7-97d0-47d3-b5c5-14fe0e33e34b}" enabled="0" method="" siteId="{8cc434d7-97d0-47d3-b5c5-14fe0e33e34b}" removed="1"/>
</clbl:labelList>
</file>

<file path=docProps/app.xml><?xml version="1.0" encoding="utf-8"?>
<Properties xmlns="http://schemas.openxmlformats.org/officeDocument/2006/extended-properties" xmlns:vt="http://schemas.openxmlformats.org/officeDocument/2006/docPropsVTypes">
  <Template>Microsoft Press_PowerPoint Template (2023 Re-brand)</Template>
  <TotalTime>35322</TotalTime>
  <Words>4567</Words>
  <Application>Microsoft Office PowerPoint</Application>
  <PresentationFormat>On-screen Show (16:9)</PresentationFormat>
  <Paragraphs>159</Paragraphs>
  <Slides>14</Slides>
  <Notes>8</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Open Sans</vt:lpstr>
      <vt:lpstr>Segoe Pro Display</vt:lpstr>
      <vt:lpstr>Segoe UI</vt:lpstr>
      <vt:lpstr>Segoe UI Light</vt:lpstr>
      <vt:lpstr>Segoe UI Semilight</vt:lpstr>
      <vt:lpstr>Standard_LiveLessons_2017</vt:lpstr>
      <vt:lpstr>PowerPoint Presentation</vt:lpstr>
      <vt:lpstr>PowerPoint Presentation</vt:lpstr>
      <vt:lpstr>PowerPoint Presentation</vt:lpstr>
      <vt:lpstr>Resolve complex hybrid and infrastructure problems</vt:lpstr>
      <vt:lpstr>Identify and remediate system bottlenecks</vt:lpstr>
      <vt:lpstr>PowerPoint Presentation</vt:lpstr>
      <vt:lpstr>Resolve problems with VM agents and Arc extensions</vt:lpstr>
      <vt:lpstr>PowerPoint Presentation</vt:lpstr>
      <vt:lpstr>Diagnose and fix encryption-related problems</vt:lpstr>
      <vt:lpstr>PowerPoint Presentation</vt:lpstr>
      <vt:lpstr>Resolve issues with on-premises and Azure storage</vt:lpstr>
      <vt:lpstr>PowerPoint Presentation</vt:lpstr>
      <vt:lpstr>Address failures in Arc-managed extensions</vt:lpstr>
      <vt:lpstr>Diagram title in sentence case</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Phifer</dc:creator>
  <cp:lastModifiedBy>Tim Warner</cp:lastModifiedBy>
  <cp:revision>105</cp:revision>
  <dcterms:created xsi:type="dcterms:W3CDTF">2015-09-28T19:52:00Z</dcterms:created>
  <dcterms:modified xsi:type="dcterms:W3CDTF">2025-10-27T12:46:17Z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0x0101009EB942DAA29B6641B847DD25AB6364DF</vt:lpwstr>
  </property>
  <property fmtid="{D5CDD505-2E9C-101B-9397-08002B2CF9AE}" pid="3" name="MediaServiceImageTags">
    <vt:lpwstr/>
  </property>
  <property fmtid="{D5CDD505-2E9C-101B-9397-08002B2CF9AE}" pid="4" name="MSIP_Label_d31dd64d-da6b-43d5-9ac5-8dec692131c3_Enabled">
    <vt:lpwstr>true</vt:lpwstr>
  </property>
  <property fmtid="{D5CDD505-2E9C-101B-9397-08002B2CF9AE}" pid="5" name="MSIP_Label_d31dd64d-da6b-43d5-9ac5-8dec692131c3_SetDate">
    <vt:lpwstr>2024-02-18T18:18:25Z</vt:lpwstr>
  </property>
  <property fmtid="{D5CDD505-2E9C-101B-9397-08002B2CF9AE}" pid="6" name="MSIP_Label_d31dd64d-da6b-43d5-9ac5-8dec692131c3_Method">
    <vt:lpwstr>Standard</vt:lpwstr>
  </property>
  <property fmtid="{D5CDD505-2E9C-101B-9397-08002B2CF9AE}" pid="7" name="MSIP_Label_d31dd64d-da6b-43d5-9ac5-8dec692131c3_Name">
    <vt:lpwstr>General</vt:lpwstr>
  </property>
  <property fmtid="{D5CDD505-2E9C-101B-9397-08002B2CF9AE}" pid="8" name="MSIP_Label_d31dd64d-da6b-43d5-9ac5-8dec692131c3_SiteId">
    <vt:lpwstr>db1766ec-5540-4cde-ad8d-b2b59fb2ed8e</vt:lpwstr>
  </property>
  <property fmtid="{D5CDD505-2E9C-101B-9397-08002B2CF9AE}" pid="9" name="MSIP_Label_d31dd64d-da6b-43d5-9ac5-8dec692131c3_ActionId">
    <vt:lpwstr>e519282f-68ee-4290-b67d-67e40ded71bd</vt:lpwstr>
  </property>
  <property fmtid="{D5CDD505-2E9C-101B-9397-08002B2CF9AE}" pid="10" name="MSIP_Label_d31dd64d-da6b-43d5-9ac5-8dec692131c3_ContentBits">
    <vt:lpwstr>0</vt:lpwstr>
  </property>
</Properties>
</file>