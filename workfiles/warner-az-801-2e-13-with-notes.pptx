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1"/>
  </p:notesMasterIdLst>
  <p:sldIdLst>
    <p:sldId id="303" r:id="rId5"/>
    <p:sldId id="292" r:id="rId6"/>
    <p:sldId id="293" r:id="rId7"/>
    <p:sldId id="355" r:id="rId8"/>
    <p:sldId id="350" r:id="rId9"/>
    <p:sldId id="343" r:id="rId10"/>
    <p:sldId id="351" r:id="rId11"/>
    <p:sldId id="346" r:id="rId12"/>
    <p:sldId id="352" r:id="rId13"/>
    <p:sldId id="347" r:id="rId14"/>
    <p:sldId id="353" r:id="rId15"/>
    <p:sldId id="348" r:id="rId16"/>
    <p:sldId id="354" r:id="rId17"/>
    <p:sldId id="349" r:id="rId18"/>
    <p:sldId id="331" r:id="rId19"/>
    <p:sldId id="342"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8A524E-1CF7-4360-BE2C-CC4966F3086E}" v="1" dt="2025-10-24T18:09:41.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180" autoAdjust="0"/>
    <p:restoredTop sz="56704" autoAdjust="0"/>
  </p:normalViewPr>
  <p:slideViewPr>
    <p:cSldViewPr snapToGrid="0" snapToObjects="1">
      <p:cViewPr varScale="1">
        <p:scale>
          <a:sx n="106" d="100"/>
          <a:sy n="106" d="100"/>
        </p:scale>
        <p:origin x="3208" y="316"/>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9C1AC220-CD93-46E4-823F-E96AD2EFE762}"/>
    <pc:docChg chg="custSel modSld sldOrd">
      <pc:chgData name="Tim Warner" userId="1d9b2d89684621c1" providerId="LiveId" clId="{9C1AC220-CD93-46E4-823F-E96AD2EFE762}" dt="2025-10-25T13:24:42.700" v="101"/>
      <pc:docMkLst>
        <pc:docMk/>
      </pc:docMkLst>
      <pc:sldChg chg="addSp delSp modSp mod ord modShow">
        <pc:chgData name="Tim Warner" userId="1d9b2d89684621c1" providerId="LiveId" clId="{9C1AC220-CD93-46E4-823F-E96AD2EFE762}" dt="2025-10-25T13:24:42.700" v="101"/>
        <pc:sldMkLst>
          <pc:docMk/>
          <pc:sldMk cId="4080705565" sldId="342"/>
        </pc:sldMkLst>
        <pc:spChg chg="mod">
          <ac:chgData name="Tim Warner" userId="1d9b2d89684621c1" providerId="LiveId" clId="{9C1AC220-CD93-46E4-823F-E96AD2EFE762}" dt="2025-10-25T13:24:23.188" v="99" actId="20577"/>
          <ac:spMkLst>
            <pc:docMk/>
            <pc:sldMk cId="4080705565" sldId="342"/>
            <ac:spMk id="2" creationId="{BDF9E237-BA0D-A6D7-ABE0-D61274209EBE}"/>
          </ac:spMkLst>
        </pc:spChg>
        <pc:spChg chg="mod">
          <ac:chgData name="Tim Warner" userId="1d9b2d89684621c1" providerId="LiveId" clId="{9C1AC220-CD93-46E4-823F-E96AD2EFE762}" dt="2025-10-24T18:13:55.194" v="59" actId="1036"/>
          <ac:spMkLst>
            <pc:docMk/>
            <pc:sldMk cId="4080705565" sldId="342"/>
            <ac:spMk id="8" creationId="{1155EB2F-7448-A2AA-7CA9-989CB37A3F86}"/>
          </ac:spMkLst>
        </pc:spChg>
        <pc:picChg chg="add del mod">
          <ac:chgData name="Tim Warner" userId="1d9b2d89684621c1" providerId="LiveId" clId="{9C1AC220-CD93-46E4-823F-E96AD2EFE762}" dt="2025-10-24T18:13:36.875" v="29" actId="478"/>
          <ac:picMkLst>
            <pc:docMk/>
            <pc:sldMk cId="4080705565" sldId="342"/>
            <ac:picMk id="4" creationId="{6293A9DD-BEC5-919E-BD7B-7062FC94F622}"/>
          </ac:picMkLst>
        </pc:picChg>
        <pc:picChg chg="add mod">
          <ac:chgData name="Tim Warner" userId="1d9b2d89684621c1" providerId="LiveId" clId="{9C1AC220-CD93-46E4-823F-E96AD2EFE762}" dt="2025-10-24T18:13:57.115" v="61" actId="1036"/>
          <ac:picMkLst>
            <pc:docMk/>
            <pc:sldMk cId="4080705565" sldId="342"/>
            <ac:picMk id="6" creationId="{C38012A9-B3C6-7225-5DFB-51B3FF97DA1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Fri, 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foundation of Azure's backup strategy.</a:t>
            </a:r>
          </a:p>
          <a:p>
            <a:endParaRPr/>
          </a:p>
          <a:p>
            <a:r>
              <a:t>"Azure Backup is Microsoft's enterprise backup-as-a-service (BaaS)." This is Microsoft's cloud-native answer to traditional backup solutions—no infrastructure to maintain, no tape libraries to manage, no backup servers consuming resources in your datacenter. It's pure BaaS, meaning you're paying for what you use and Microsoft handles all the heavy lifting behind the scenes.</a:t>
            </a:r>
          </a:p>
          <a:p>
            <a:endParaRPr/>
          </a:p>
          <a:p>
            <a:r>
              <a:t>"Stores backups in a Recovery Services Vault (RSV)." Think of the Recovery Services Vault as your centralized backup command center in Azure. It's a logical container that stores backup data, manages retention policies, handles encryption at rest with customer-managed or Microsoft-managed keys, and provides a unified interface for all your backup operations. You create one vault per region—or per compliance boundary—and point all your protected resources to it. The vault itself is an Azure Resource Manager resource, so it integrates with Azure RBAC, Azure Policy, and all your governance tooling.</a:t>
            </a:r>
          </a:p>
          <a:p>
            <a:endParaRPr/>
          </a:p>
          <a:p>
            <a:r>
              <a:t>"Supports files, folders, VMs, apps." Azure Backup isn't just for VMs. You can protect individual files and folders from Windows servers using the MARS agent, entire VMs using the Azure VM agent, SQL databases, SharePoint farms, Exchange servers—pretty much any Microsoft workload. Each has its own backup extension or agent, but they all report back to the same Recovery Services Vault, giving you that single pane of glass for backup management across your hybrid environment.</a:t>
            </a:r>
          </a:p>
          <a:p>
            <a:endParaRPr/>
          </a:p>
          <a:p>
            <a:r>
              <a:t>"Protects on-premises and Azure workloads with unified management." Here's the real power: whether you're backing up an on-prem file server, a Windows Server VM in your datacenter, or an Azure IaaS VM running in West Europe, the management experience is identical. Same portal, same cmdlets, same APIs. This unified approach is critical for hybrid architectures—you're not juggling multiple backup products with different interfaces and different support contracts.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dig into how file and folder protection actually works.</a:t>
            </a:r>
          </a:p>
          <a:p>
            <a:endParaRPr/>
          </a:p>
          <a:p>
            <a:r>
              <a:t>"Installs lightweight agent on Windows Server." The Microsoft Azure Recovery Services agent—MARS agent—is a small footprint agent that runs on Windows Server 2012 R2 and later. We're talking about 20-30 MB installed size. It integrates with Volume Shadow Copy Service to get application-consistent backups of open files, coordinates with the Recovery Services Vault for upload schedules, and handles all the encryption and compression locally before data ever leaves the server.</a:t>
            </a:r>
          </a:p>
          <a:p>
            <a:endParaRPr/>
          </a:p>
          <a:p>
            <a:r>
              <a:t>"Supports incremental, encrypted backups to Azure." First backup is a full baseline, then every subsequent backup is incremental—only the changed blocks. Data is encrypted locally on the server using a passphrase you define, compressed to reduce bandwidth consumption, then transmitted over HTTPS to Azure. At rest in the vault, it remains encrypted. The passphrase never leaves your environment—if you lose it, Microsoft cannot recover your data. This is security by design.</a:t>
            </a:r>
          </a:p>
          <a:p>
            <a:endParaRPr/>
          </a:p>
          <a:p>
            <a:r>
              <a:t>"Bandwidth throttling avoids network saturation." For servers on metered connections or limited bandwidth scenarios, the MARS agent includes network throttling controls. You can define backup windows, specify maximum bandwidth usage during business hours versus off-hours, and even pause backups if needed. This ensures backup operations don't cripple your production workloads or saturate your internet connection.</a:t>
            </a:r>
          </a:p>
          <a:p>
            <a:endParaRPr/>
          </a:p>
          <a:p>
            <a:r>
              <a:t>"Recovery is granular—individual files or full restore paths." When you need to restore, you're not forced to recover everything. The MARS agent mounts the recovery point as a virtual drive in Windows, letting you browse the snapshot and copy just the files you need. Alternatively, you can script the entire restore operation with PowerShell for automation scenarios. Recovery is fast because you're pulling from Azure's backbone, not waiting for tape retrieval or backup server disk I/O.</a:t>
            </a:r>
          </a:p>
          <a:p>
            <a:endParaRPr/>
          </a:p>
          <a:p>
            <a:r>
              <a:t>EXAM TIP: For AZ-801, know the difference between MARS agent (files/folders only) and Azure Backup Server (application-aware backups). MARS installs on the server being backed up, while Azure Backup Server is a separate management server. If an exam question asks about protecting SQL databases or Exchange servers, MARS agent alone won't cut it—you need Azure Backup Server or native Azure VM backup.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talk about Azure Backup Server, which is where things get enterprise-grade.</a:t>
            </a:r>
          </a:p>
          <a:p>
            <a:endParaRPr/>
          </a:p>
          <a:p>
            <a:r>
              <a:t>"Microsoft Azure Backup Server (MABS) extends Data Protection Manager." MABS is essentially DPM without the System Center licensing requirement. It gives you the same centralized backup management console, the same application-aware backup capabilities, the same protection agent architecture—but it's free if you're using Azure for the cloud storage tier. Microsoft is subsidizing the software cost to get you consuming Azure Backup storage.</a:t>
            </a:r>
          </a:p>
          <a:p>
            <a:endParaRPr/>
          </a:p>
          <a:p>
            <a:r>
              <a:t>"Supports app-aware backups (SQL, Exchange, SharePoint)." This is the killer feature. MABS coordinates with VSS writers for SQL Server, Exchange, SharePoint—it quiesces the application, takes a transaction-consistent snapshot, then resumes operations. What that means operationally: your SQL databases aren't corrupted, your Exchange databases aren't in dirty shutdown, your SharePoint content databases are recoverable. Application-aware backups are the difference between a backup you can actually use and a pile of corrupt files.</a:t>
            </a:r>
          </a:p>
          <a:p>
            <a:endParaRPr/>
          </a:p>
          <a:p>
            <a:r>
              <a:t>"Manages disk + cloud storage tiers for hybrid protection." MABS writes backups to local disk first for fast recovery—this is your Disk-to-Disk (D2D) tier. Then it replicates to Azure Recovery Services Vault for long-term retention and offsite protection—that's your Disk-to-Disk-to-Cloud (D2D2C) strategy. Local disk gives you sub-minute RTOs for common restore scenarios. Cloud tier gives you disaster recovery and regulatory retention. You get both.</a:t>
            </a:r>
          </a:p>
          <a:p>
            <a:endParaRPr/>
          </a:p>
          <a:p>
            <a:r>
              <a:t>"Centralized console protects VMs, databases, and file servers." From one management interface, you're protecting Hyper-V VMs, VMware VMs, SQL instances, Exchange servers, SharePoint farms, and Windows file servers—whether they're on-premises or running in Azure. The protection agent deploys automatically from the MABS console, backup policies are defined centrally, and monitoring happens in a unified dashboard. This is the enterprise backup experience Microsoft wants you to have.</a:t>
            </a:r>
          </a:p>
          <a:p>
            <a:endParaRPr/>
          </a:p>
          <a:p>
            <a:r>
              <a:t>EXAM TIP: Remember MABS requires a Windows Server 2016 or later deployment, needs local disk storage for the D2D tier, and MUST be deployed in the same domain—or in a trusted domain—as the workloads you're protecting. If the exam throws a scenario about backing up Exchange in a different forest with no trust, you'll need certificate-based authentication or VPN connectivity back to the MABS domain.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cover recovery operations using Azure Backup Server.</a:t>
            </a:r>
          </a:p>
          <a:p>
            <a:endParaRPr/>
          </a:p>
          <a:p>
            <a:r>
              <a:t>"System state backups protect AD and server configs." When MABS takes a system state backup of a Windows Server, it's capturing Active Directory database (on DCs), Registry, COM+ class registration, boot files, system files under Windows File Protection—everything you'd need to rebuild that server from bare metal. For domain controllers specifically, this is how you protect AD itself. If you lose a DC and need to do authoritative restore of a deleted OU, system state backup is your path to recovery.</a:t>
            </a:r>
          </a:p>
          <a:p>
            <a:endParaRPr/>
          </a:p>
          <a:p>
            <a:r>
              <a:t>"Item-level recovery enables file/folder restoration." Even though MABS took a full system state or VM-level backup, you can still recover individual files without restoring the entire VM or system. MABS mounts the backup, exposes it as a virtual share or drive, and you browse to the specific files you need. This is particularly powerful for "oops" scenarios—user deleted a folder, you restore just that folder in minutes, no full VM restore required.</a:t>
            </a:r>
          </a:p>
          <a:p>
            <a:endParaRPr/>
          </a:p>
          <a:p>
            <a:r>
              <a:t>"Cross-region restore provides DR options." If you've configured geo-redundant storage (GRS) for your Recovery Services Vault, Azure automatically replicates your backups to a paired region hundreds of miles away. In the event of a regional disaster, you can restore VMs and data to the secondary region without waiting for Microsoft to declare a disaster. This is self-service DR—you control the failover, you initiate the restore, you don't wait for Azure to make the call.</a:t>
            </a:r>
          </a:p>
          <a:p>
            <a:endParaRPr/>
          </a:p>
          <a:p>
            <a:r>
              <a:t>"Granular recovery of databases and email items." For SQL Server, MABS supports database-level restore, log chain restore for point-in-time recovery, and even individual table recovery if you're using database-level backups. For Exchange, you can recover individual mailbox items without restoring the entire mailbox database. SharePoint? Recover individual sites, lists, even documents from a SharePoint farm backup. This granularity is what makes MABS enterprise-ready.</a:t>
            </a:r>
          </a:p>
          <a:p>
            <a:endParaRPr/>
          </a:p>
          <a:p>
            <a:r>
              <a:t>EXAM TIP: Know that MABS recovery operations can target original location or alternate location. Original location overwrites existing data—useful for disaster recovery. Alternate location creates a parallel copy—useful for testing or parallel investigations. The exam loves scenario questions about where to restore data based on business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discuss centralized backup management through the Recovery Services Vault.</a:t>
            </a:r>
          </a:p>
          <a:p>
            <a:endParaRPr/>
          </a:p>
          <a:p>
            <a:r>
              <a:t>"Central cloud repository for all backup data." Whether data is coming from MARS agents, Azure Backup Server, Azure VM backups, or Azure file share backups—it all lands in the Recovery Services Vault. One vault, one namespace for backup data, one interface for monitoring jobs. From the Azure portal, you get a unified view of backup health across your entire hybrid infrastructure. No more logging into individual backup servers or checking multiple consoles.</a:t>
            </a:r>
          </a:p>
          <a:p>
            <a:endParaRPr/>
          </a:p>
          <a:p>
            <a:r>
              <a:t>"Policies define retention schedules and recovery points." Backup policies are where you encode your RTO and RPO requirements. Daily backups at 2 AM? Weekly fulls on Sunday? Retain dailies for 7 days, weeklies for 4 weeks, monthlies for 12 months? All of that goes into the backup policy. Then you associate protected items with that policy, and Azure Backup handles the scheduling, retention pruning, and recovery point management automatically. Policies can be modified on the fly without disrupting existing backups.</a:t>
            </a:r>
          </a:p>
          <a:p>
            <a:endParaRPr/>
          </a:p>
          <a:p>
            <a:r>
              <a:t>"Cost optimization via compression and deduplication." Azure Backup compresses data before upload to reduce bandwidth and storage costs. At the vault tier, Microsoft performs deduplication across all your backup data to eliminate redundant blocks. You're not paying to store the same Windows system files 50 times across 50 server backups. Deduplication happens transparently—you don't configure it, you don't manage it, you just get lower storage bills.</a:t>
            </a:r>
          </a:p>
          <a:p>
            <a:endParaRPr/>
          </a:p>
          <a:p>
            <a:r>
              <a:t>"Azure Monitor integration for alerts and reporting." Recovery Services Vaults integrate with Azure Monitor, Log Analytics, and Azure dashboards for centralized monitoring. You can configure alerts for failed backup jobs, email notifications to ops teams, Power BI reports on backup success rates, and custom queries in Log Analytics to track trends over time. This is enterprise monitoring—not just "did the backup run" but "is our backup environment healthy and meeting SLAs?"</a:t>
            </a:r>
          </a:p>
          <a:p>
            <a:endParaRPr/>
          </a:p>
          <a:p>
            <a:r>
              <a:t>EXAM TIP: Understand the difference between Recovery Services Vault (used by Azure Backup for VMs, servers, MABS, MARS) and Backup Vault (used for newer workloads like Azure Database for PostgreSQL, Azure Blobs, Azure Disks). For AZ-801, you're focused on Recovery Services Vault. Know that vaults are region-specific—you can't move a vault between regions, but you can enable cross-region restore to recover to paired regions.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talk about backup policies and how they standardize retention across your environment.</a:t>
            </a:r>
          </a:p>
          <a:p>
            <a:endParaRPr/>
          </a:p>
          <a:p>
            <a:r>
              <a:t>"Define backup frequency (daily, weekly, monthly)." This is your recovery point objective encoded in policy form. Need daily backups to meet a 24-hour RPO? Configure daily frequency. Mission-critical databases needing hourly recovery points? Some workloads support sub-daily backups—SQL Server backup can run transaction log backups every 15 minutes when configured through Azure Backup for SQL on Azure VMs. The policy frequency drives how granular your recovery point timeline becomes.</a:t>
            </a:r>
          </a:p>
          <a:p>
            <a:endParaRPr/>
          </a:p>
          <a:p>
            <a:r>
              <a:t>"GFS (Grandfather-Father-Son) rules support long-term retention." GFS is the classic retention strategy: keep dailies for a week, weeklies for a month, monthlies for a year, and yearlies for compliance periods. Azure Backup policies support this natively. You define the number of daily recovery points to retain, the number of weekly points, monthly points, and yearly points. Azure automatically tags recovery points based on these rules and prunes older points once they age out. This is how you balance rapid recovery with long-term compliance retention.</a:t>
            </a:r>
          </a:p>
          <a:p>
            <a:endParaRPr/>
          </a:p>
          <a:p>
            <a:r>
              <a:t>"Policy inheritance simplifies multi-server management." When you apply a backup policy to a protection group in Azure Backup Server, every member of that group inherits the same schedule and retention. Change the policy? All protected items get the update. This is critical for scale—you're not managing backup schedules server-by-server. One policy governs hundreds of servers. When compliance requirements change, you update the policy once and the change propagates across your entire backup estate.</a:t>
            </a:r>
          </a:p>
          <a:p>
            <a:endParaRPr/>
          </a:p>
          <a:p>
            <a:r>
              <a:t>"Instant restore snapshots provide fast recovery for recent data." Azure VM backups create instant restore snapshots that live on the VM's disks for 1-5 days before being moved to the vault. These snapshots enable VM restore in minutes rather than hours. When you define your backup policy, you specify the instant restore retention—higher values mean longer windows for fast recovery, but slightly higher storage costs because snapshots are stored at the Azure Managed Disk tier instead of vault tier.</a:t>
            </a:r>
          </a:p>
          <a:p>
            <a:endParaRPr/>
          </a:p>
          <a:p>
            <a:r>
              <a:t>EXAM TIP: Be able to differentiate between operational recovery points (stored as snapshots on disks, fast recovery) and long-term recovery points (stored in Recovery Services Vault, slower recovery but lower cost). The exam loves asking about RPO versus RTO scenarios—if the scenario emphasizes fast recovery, instant restore snapshots are the answer. If it emphasizes long-term compliance retention, vault-tier policies with GFS are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talk about protecting backups from ransomware—this is one of the hottest topics in enterprise backup today.</a:t>
            </a:r>
          </a:p>
          <a:p>
            <a:endParaRPr/>
          </a:p>
          <a:p>
            <a:r>
              <a:t>"Immutable storage prevents tampering or deletion." When you enable immutability on your Recovery Services Vault, recovery points become Write-Once-Read-Many (WORM). Once a recovery point is created, it cannot be deleted or modified—even by an administrator—until the retention period expires according to your backup policy. This is your defense against ransomware that deletes backups or malicious insiders trying to cover their tracks. Immutability can be set to locked state, making it irreversible. Once locked, even Microsoft support cannot disable immutability or delete recovery points prematurely.</a:t>
            </a:r>
          </a:p>
          <a:p>
            <a:endParaRPr/>
          </a:p>
          <a:p>
            <a:r>
              <a:t>"Multi-user authorization required for destructive actions." MUA adds a critical layer of defense by requiring approval from a Resource Guard before destructive operations like "stop protection and delete data" or "disable soft delete" can execute. The Resource Guard lives in a different subscription or even a different tenant, managed by a separate security team. When a rogue admin tries to delete backups, the operation fails unless the Resource Guard owner approves it. This separation of duties is a Zero Trust principle applied to backup operations.</a:t>
            </a:r>
          </a:p>
          <a:p>
            <a:endParaRPr/>
          </a:p>
          <a:p>
            <a:r>
              <a:t>"Isolated recovery environments validate backups without risk." Before you restore to production after a ransomware attack, you need confidence that the backup itself isn't infected. Best practice is to restore to an isolated recovery environment—a separate VNet with no connectivity to production—spin up the restored VMs, run antimalware scans, validate the data, then move clean workloads back to production. Azure Site Recovery plus Azure Backup enables this workflow: restore to a recovery VNet, test, then failover to production VNet once validated.</a:t>
            </a:r>
          </a:p>
          <a:p>
            <a:endParaRPr/>
          </a:p>
          <a:p>
            <a:r>
              <a:t>"Soft delete retains data for 14 days after deletion." Even if backups are deleted—accidentally or maliciously—soft delete retains the data for 14 additional days at no extra cost. During this window, you can undelete the backup items and restore as if nothing happened. Enhanced soft delete allows you to extend this retention period up to 180 days and make soft delete "always-on" so that even malicious actors can't disable it. This is your safety net against both human error and deliberate attacks.</a:t>
            </a:r>
          </a:p>
          <a:p>
            <a:endParaRPr/>
          </a:p>
          <a:p>
            <a:r>
              <a:t>EXAM TIP: For AZ-801, know the difference between immutability (WORM storage, cannot be deleted even by admins), multi-user authorization (requires Resource Guard approval for destructive ops), and soft delete (retains deleted data temporarily for recovery). The exam will throw scenarios about ransomware attacks or insider threats—immutability + MUA + soft delete is the defense-in-depth answer. Also know that immutability for on-prem backups (MARS/MABS) requires agent version 2.0.9250.0 or higher.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16</a:t>
            </a:fld>
            <a:endParaRPr lang="en-US"/>
          </a:p>
        </p:txBody>
      </p:sp>
    </p:spTree>
    <p:extLst>
      <p:ext uri="{BB962C8B-B14F-4D97-AF65-F5344CB8AC3E}">
        <p14:creationId xmlns:p14="http://schemas.microsoft.com/office/powerpoint/2010/main" val="1668039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Fri, 10/24/2025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13: Implement Azure Backup</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08444"/>
            <a:ext cx="3516430" cy="2979037"/>
          </a:xfrm>
        </p:spPr>
        <p:txBody>
          <a:bodyPr>
            <a:noAutofit/>
          </a:bodyPr>
          <a:lstStyle/>
          <a:p>
            <a:pPr>
              <a:spcBef>
                <a:spcPts val="200"/>
              </a:spcBef>
              <a:spcAft>
                <a:spcPts val="400"/>
              </a:spcAft>
            </a:pPr>
            <a:r>
              <a:rPr lang="en-US" sz="1400" dirty="0"/>
              <a:t>13.1. Back up and restore files and folders to Azure Recovery Services Vault </a:t>
            </a:r>
          </a:p>
          <a:p>
            <a:pPr>
              <a:spcBef>
                <a:spcPts val="200"/>
              </a:spcBef>
              <a:spcAft>
                <a:spcPts val="400"/>
              </a:spcAft>
            </a:pPr>
            <a:r>
              <a:rPr lang="en-US" sz="1400" dirty="0"/>
              <a:t>13.2. Deploy and manage Azure Backup Server </a:t>
            </a:r>
          </a:p>
          <a:p>
            <a:pPr>
              <a:spcBef>
                <a:spcPts val="200"/>
              </a:spcBef>
              <a:spcAft>
                <a:spcPts val="400"/>
              </a:spcAft>
            </a:pPr>
            <a:r>
              <a:rPr lang="en-US" sz="1400" dirty="0"/>
              <a:t>13.3. Back up and recover using Azure Backup Server </a:t>
            </a:r>
          </a:p>
          <a:p>
            <a:pPr>
              <a:spcBef>
                <a:spcPts val="200"/>
              </a:spcBef>
              <a:spcAft>
                <a:spcPts val="400"/>
              </a:spcAft>
            </a:pPr>
            <a:r>
              <a:rPr lang="en-US" sz="1400" dirty="0"/>
              <a:t>13.4. Manage backups in Azure Recovery Services Vault </a:t>
            </a:r>
          </a:p>
          <a:p>
            <a:pPr>
              <a:spcBef>
                <a:spcPts val="200"/>
              </a:spcBef>
              <a:spcAft>
                <a:spcPts val="400"/>
              </a:spcAft>
            </a:pPr>
            <a:r>
              <a:rPr lang="en-US" sz="1400" dirty="0"/>
              <a:t>13.5. Create an Azure Recovery Services vault backup policy </a:t>
            </a:r>
          </a:p>
          <a:p>
            <a:pPr>
              <a:spcBef>
                <a:spcPts val="200"/>
              </a:spcBef>
              <a:spcAft>
                <a:spcPts val="400"/>
              </a:spcAft>
            </a:pPr>
            <a:r>
              <a:rPr lang="en-US" sz="1400" dirty="0"/>
              <a:t>13.6 Implement ransomware-aware backup and recovery strategies, including immutable storage and recovery testing</a:t>
            </a:r>
          </a:p>
          <a:p>
            <a:pPr>
              <a:spcBef>
                <a:spcPts val="200"/>
              </a:spcBef>
              <a:spcAft>
                <a:spcPts val="400"/>
              </a:spcAft>
            </a:pPr>
            <a:endParaRPr lang="en-US" sz="1400" dirty="0"/>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13.1 Back up and restore files and folders to Azure Recovery Services Vault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69734" cy="463628"/>
          </a:xfrm>
        </p:spPr>
        <p:txBody>
          <a:bodyPr/>
          <a:lstStyle/>
          <a:p>
            <a:r>
              <a:rPr lang="en-US"/>
              <a:t>Protect workloads with cloud-first backup service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Azure Backup is Microsoft’s enterprise backup-as-a-service (BaaS)</a:t>
            </a:r>
          </a:p>
          <a:p>
            <a:r>
              <a:rPr lang="en-US" sz="1800" dirty="0"/>
              <a:t>Stores backups in a Recovery Services Vault (RSV)</a:t>
            </a:r>
          </a:p>
          <a:p>
            <a:r>
              <a:rPr lang="en-US" sz="1800" dirty="0"/>
              <a:t>Supports files, folders, VMs, apps, and workloads</a:t>
            </a:r>
          </a:p>
          <a:p>
            <a:r>
              <a:rPr lang="en-US" sz="1800" dirty="0"/>
              <a:t>Provides built-in encryption, immutability, and ransomware protection</a:t>
            </a:r>
          </a:p>
          <a:p>
            <a:r>
              <a:rPr lang="en-US" sz="1800" dirty="0"/>
              <a:t>Adventure Works uses Azure Backup to safeguard hybrid SQL and file servers</a:t>
            </a:r>
          </a:p>
        </p:txBody>
      </p:sp>
    </p:spTree>
    <p:extLst>
      <p:ext uri="{BB962C8B-B14F-4D97-AF65-F5344CB8AC3E}">
        <p14:creationId xmlns:p14="http://schemas.microsoft.com/office/powerpoint/2010/main" val="15236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56694" cy="463628"/>
          </a:xfrm>
        </p:spPr>
        <p:txBody>
          <a:bodyPr/>
          <a:lstStyle/>
          <a:p>
            <a:r>
              <a:rPr lang="en-US"/>
              <a:t>Protect files and folders with Azure Backup Agent</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Installs lightweight agent on Windows Server</a:t>
            </a:r>
          </a:p>
          <a:p>
            <a:r>
              <a:rPr lang="en-US" sz="1800" dirty="0"/>
              <a:t>Supports incremental, encrypted backups to Azure</a:t>
            </a:r>
          </a:p>
          <a:p>
            <a:r>
              <a:rPr lang="en-US" sz="1800" dirty="0"/>
              <a:t>Bandwidth throttling avoids network saturation</a:t>
            </a:r>
          </a:p>
          <a:p>
            <a:r>
              <a:rPr lang="en-US" sz="1800" dirty="0"/>
              <a:t>Recovery restores data to original or alternate paths</a:t>
            </a:r>
          </a:p>
          <a:p>
            <a:r>
              <a:rPr lang="en-US" sz="1800" dirty="0"/>
              <a:t>Contoso protects branch office file servers using RSV</a:t>
            </a:r>
          </a:p>
        </p:txBody>
      </p:sp>
    </p:spTree>
    <p:extLst>
      <p:ext uri="{BB962C8B-B14F-4D97-AF65-F5344CB8AC3E}">
        <p14:creationId xmlns:p14="http://schemas.microsoft.com/office/powerpoint/2010/main" val="103764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13.2 Deploy and manage Azure Backup Server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Centralize protection with Azure Backup Server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Microsoft Azure Backup Server (MABS) extends Data Protection Manager</a:t>
            </a:r>
          </a:p>
          <a:p>
            <a:r>
              <a:rPr lang="en-US" sz="1800" dirty="0"/>
              <a:t>Supports app-aware backups (SQL, Exchange, SharePoint)</a:t>
            </a:r>
          </a:p>
          <a:p>
            <a:r>
              <a:rPr lang="en-US" sz="1800" dirty="0"/>
              <a:t>Manages disk + cloud storage pools for efficiency</a:t>
            </a:r>
          </a:p>
          <a:p>
            <a:r>
              <a:rPr lang="en-US" sz="1800" dirty="0"/>
              <a:t>Protection groups simplify workload-level policies</a:t>
            </a:r>
          </a:p>
          <a:p>
            <a:r>
              <a:rPr lang="en-US" sz="1800" dirty="0" err="1"/>
              <a:t>Fabrikam</a:t>
            </a:r>
            <a:r>
              <a:rPr lang="en-US" sz="1800" dirty="0"/>
              <a:t> consolidates backup operations with MABS</a:t>
            </a:r>
          </a:p>
        </p:txBody>
      </p:sp>
    </p:spTree>
    <p:extLst>
      <p:ext uri="{BB962C8B-B14F-4D97-AF65-F5344CB8AC3E}">
        <p14:creationId xmlns:p14="http://schemas.microsoft.com/office/powerpoint/2010/main" val="219958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13.3 Back up and recover using Azure Backup Server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Restore workloads quickly with MABS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System state backups protect AD and server configs</a:t>
            </a:r>
          </a:p>
          <a:p>
            <a:r>
              <a:rPr lang="en-US" sz="1800" dirty="0"/>
              <a:t>Item-level recovery enables file/folder restoration</a:t>
            </a:r>
          </a:p>
          <a:p>
            <a:r>
              <a:rPr lang="en-US" sz="1800" dirty="0"/>
              <a:t>Cross-region restore provides DR options</a:t>
            </a:r>
          </a:p>
          <a:p>
            <a:r>
              <a:rPr lang="en-US" sz="1800" dirty="0"/>
              <a:t>Granular recovery for databases and applications</a:t>
            </a:r>
          </a:p>
          <a:p>
            <a:r>
              <a:rPr lang="en-US" sz="1800" dirty="0"/>
              <a:t>Tailwind Traders validates recoverability with quarterly drills</a:t>
            </a:r>
          </a:p>
        </p:txBody>
      </p:sp>
    </p:spTree>
    <p:extLst>
      <p:ext uri="{BB962C8B-B14F-4D97-AF65-F5344CB8AC3E}">
        <p14:creationId xmlns:p14="http://schemas.microsoft.com/office/powerpoint/2010/main" val="9158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13.4 Manage backups in Azure Recovery Services Vault </a:t>
            </a:r>
          </a:p>
        </p:txBody>
      </p:sp>
    </p:spTree>
    <p:extLst>
      <p:ext uri="{BB962C8B-B14F-4D97-AF65-F5344CB8AC3E}">
        <p14:creationId xmlns:p14="http://schemas.microsoft.com/office/powerpoint/2010/main" val="5788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Monitor and control backup operations in RSV</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Central cloud repository for all backup data</a:t>
            </a:r>
          </a:p>
          <a:p>
            <a:r>
              <a:rPr lang="en-US" sz="1800" dirty="0"/>
              <a:t>Policies define retention schedules and recovery points</a:t>
            </a:r>
          </a:p>
          <a:p>
            <a:r>
              <a:rPr lang="en-US" sz="1800" dirty="0"/>
              <a:t>Cost optimization via compression and deduplication</a:t>
            </a:r>
          </a:p>
          <a:p>
            <a:r>
              <a:rPr lang="en-US" sz="1800" dirty="0"/>
              <a:t>Access controls enforce role-based operations</a:t>
            </a:r>
          </a:p>
          <a:p>
            <a:r>
              <a:rPr lang="en-US" sz="1800" dirty="0" err="1"/>
              <a:t>Fabrikam</a:t>
            </a:r>
            <a:r>
              <a:rPr lang="en-US" sz="1800" dirty="0"/>
              <a:t> uses RSV dashboards to track job success and failures</a:t>
            </a:r>
          </a:p>
        </p:txBody>
      </p:sp>
    </p:spTree>
    <p:extLst>
      <p:ext uri="{BB962C8B-B14F-4D97-AF65-F5344CB8AC3E}">
        <p14:creationId xmlns:p14="http://schemas.microsoft.com/office/powerpoint/2010/main" val="394279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13.5 </a:t>
            </a:r>
            <a:r>
              <a:rPr lang="en-US" sz="3600" dirty="0">
                <a:solidFill>
                  <a:srgbClr val="0978D8"/>
                </a:solidFill>
              </a:rPr>
              <a:t>Create an Azure Recovery Services vault backup policy </a:t>
            </a:r>
          </a:p>
        </p:txBody>
      </p:sp>
    </p:spTree>
    <p:extLst>
      <p:ext uri="{BB962C8B-B14F-4D97-AF65-F5344CB8AC3E}">
        <p14:creationId xmlns:p14="http://schemas.microsoft.com/office/powerpoint/2010/main" val="334713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Standardize retention with custom policies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Define backup frequency (daily, weekly, monthly)</a:t>
            </a:r>
          </a:p>
          <a:p>
            <a:r>
              <a:rPr lang="en-US" sz="1800" dirty="0"/>
              <a:t>GFS (Grandfather-Father-Son) rules support long-term retention</a:t>
            </a:r>
          </a:p>
          <a:p>
            <a:r>
              <a:rPr lang="en-US" sz="1800" dirty="0"/>
              <a:t>Policy inheritance simplifies multi-server management</a:t>
            </a:r>
          </a:p>
          <a:p>
            <a:r>
              <a:rPr lang="en-US" sz="1800" dirty="0"/>
              <a:t>Cross-region replication adds resilience against outages</a:t>
            </a:r>
          </a:p>
          <a:p>
            <a:r>
              <a:rPr lang="en-US" sz="1800" dirty="0"/>
              <a:t>Contoso applies RSV policies to align with compliance standards</a:t>
            </a:r>
          </a:p>
        </p:txBody>
      </p:sp>
    </p:spTree>
    <p:extLst>
      <p:ext uri="{BB962C8B-B14F-4D97-AF65-F5344CB8AC3E}">
        <p14:creationId xmlns:p14="http://schemas.microsoft.com/office/powerpoint/2010/main" val="249164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13.6 Implement ransomware-aware backup and recovery strategies, including immutable storage and recovery testing</a:t>
            </a:r>
            <a:endParaRPr lang="en-US" sz="3600" dirty="0">
              <a:solidFill>
                <a:srgbClr val="0978D8"/>
              </a:solidFill>
            </a:endParaRPr>
          </a:p>
        </p:txBody>
      </p:sp>
    </p:spTree>
    <p:extLst>
      <p:ext uri="{BB962C8B-B14F-4D97-AF65-F5344CB8AC3E}">
        <p14:creationId xmlns:p14="http://schemas.microsoft.com/office/powerpoint/2010/main" val="4079992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Harden backups against ransomware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Immutable storage prevents tampering or deletion</a:t>
            </a:r>
          </a:p>
          <a:p>
            <a:r>
              <a:rPr lang="en-US" sz="1800" dirty="0"/>
              <a:t>Multi-user authorization required for destructive actions</a:t>
            </a:r>
          </a:p>
          <a:p>
            <a:r>
              <a:rPr lang="en-US" sz="1800" dirty="0"/>
              <a:t>Isolated recovery environments validate backup safety</a:t>
            </a:r>
          </a:p>
          <a:p>
            <a:r>
              <a:rPr lang="en-US" sz="1800" dirty="0"/>
              <a:t>Automated recovery testing proves restore capability</a:t>
            </a:r>
          </a:p>
          <a:p>
            <a:r>
              <a:rPr lang="en-US" sz="1800" dirty="0"/>
              <a:t>Adventure Works ensures ransomware recovery with immutable RSV backups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Azure hybrid cloud backup architecture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68468" y="4812085"/>
            <a:ext cx="3797925" cy="23838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timw.info/backup2</a:t>
            </a:r>
          </a:p>
        </p:txBody>
      </p:sp>
      <p:pic>
        <p:nvPicPr>
          <p:cNvPr id="6" name="Picture 5">
            <a:extLst>
              <a:ext uri="{FF2B5EF4-FFF2-40B4-BE49-F238E27FC236}">
                <a16:creationId xmlns:a16="http://schemas.microsoft.com/office/drawing/2014/main" id="{C38012A9-B3C6-7225-5DFB-51B3FF97DA1D}"/>
              </a:ext>
            </a:extLst>
          </p:cNvPr>
          <p:cNvPicPr>
            <a:picLocks noChangeAspect="1"/>
          </p:cNvPicPr>
          <p:nvPr/>
        </p:nvPicPr>
        <p:blipFill>
          <a:blip r:embed="rId3"/>
          <a:stretch>
            <a:fillRect/>
          </a:stretch>
        </p:blipFill>
        <p:spPr>
          <a:xfrm>
            <a:off x="713999" y="832633"/>
            <a:ext cx="7706861" cy="3926597"/>
          </a:xfrm>
          <a:prstGeom prst="rect">
            <a:avLst/>
          </a:prstGeom>
        </p:spPr>
      </p:pic>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EF82BB48-92E7-473E-B424-382E15F563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35564</TotalTime>
  <Words>3439</Words>
  <Application>Microsoft Office PowerPoint</Application>
  <PresentationFormat>On-screen Show (16:9)</PresentationFormat>
  <Paragraphs>138</Paragraphs>
  <Slides>16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Protect workloads with cloud-first backup service</vt:lpstr>
      <vt:lpstr>Protect files and folders with Azure Backup Agent</vt:lpstr>
      <vt:lpstr>PowerPoint Presentation</vt:lpstr>
      <vt:lpstr>Centralize protection with Azure Backup Server</vt:lpstr>
      <vt:lpstr>PowerPoint Presentation</vt:lpstr>
      <vt:lpstr>Restore workloads quickly with MABS</vt:lpstr>
      <vt:lpstr>PowerPoint Presentation</vt:lpstr>
      <vt:lpstr>Monitor and control backup operations in RSV</vt:lpstr>
      <vt:lpstr>PowerPoint Presentation</vt:lpstr>
      <vt:lpstr>Standardize retention with custom policies</vt:lpstr>
      <vt:lpstr>PowerPoint Presentation</vt:lpstr>
      <vt:lpstr>Harden backups against ransomware</vt:lpstr>
      <vt:lpstr>Azure hybrid cloud backup architecture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2025-10-25T13:24:45Z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