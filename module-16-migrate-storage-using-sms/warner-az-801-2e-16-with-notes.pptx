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8"/>
  </p:notesMasterIdLst>
  <p:sldIdLst>
    <p:sldId id="303" r:id="rId5"/>
    <p:sldId id="292" r:id="rId6"/>
    <p:sldId id="293" r:id="rId7"/>
    <p:sldId id="349" r:id="rId8"/>
    <p:sldId id="348" r:id="rId9"/>
    <p:sldId id="343" r:id="rId10"/>
    <p:sldId id="350" r:id="rId11"/>
    <p:sldId id="346" r:id="rId12"/>
    <p:sldId id="351" r:id="rId13"/>
    <p:sldId id="352" r:id="rId14"/>
    <p:sldId id="347" r:id="rId15"/>
    <p:sldId id="331" r:id="rId16"/>
    <p:sldId id="342" r:id="rId1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96BD83-645F-422D-BB27-D73D5D6103E8}" v="15" dt="2025-11-11T00:58:37.4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7" autoAdjust="0"/>
    <p:restoredTop sz="86886" autoAdjust="0"/>
  </p:normalViewPr>
  <p:slideViewPr>
    <p:cSldViewPr snapToGrid="0" snapToObjects="1">
      <p:cViewPr varScale="1">
        <p:scale>
          <a:sx n="92" d="100"/>
          <a:sy n="92" d="100"/>
        </p:scale>
        <p:origin x="764" y="284"/>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25" d="100"/>
        <a:sy n="125"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Warner" userId="1d9b2d89684621c1" providerId="LiveId" clId="{9C1AC220-CD93-46E4-823F-E96AD2EFE762}"/>
    <pc:docChg chg="undo custSel addSld modSld">
      <pc:chgData name="Tim Warner" userId="1d9b2d89684621c1" providerId="LiveId" clId="{9C1AC220-CD93-46E4-823F-E96AD2EFE762}" dt="2025-11-11T00:58:37.420" v="51" actId="164"/>
      <pc:docMkLst>
        <pc:docMk/>
      </pc:docMkLst>
      <pc:sldChg chg="modSp">
        <pc:chgData name="Tim Warner" userId="1d9b2d89684621c1" providerId="LiveId" clId="{9C1AC220-CD93-46E4-823F-E96AD2EFE762}" dt="2025-11-11T00:56:24.504" v="8" actId="20577"/>
        <pc:sldMkLst>
          <pc:docMk/>
          <pc:sldMk cId="4092314469" sldId="331"/>
        </pc:sldMkLst>
        <pc:spChg chg="mod">
          <ac:chgData name="Tim Warner" userId="1d9b2d89684621c1" providerId="LiveId" clId="{9C1AC220-CD93-46E4-823F-E96AD2EFE762}" dt="2025-11-11T00:56:24.504" v="8" actId="20577"/>
          <ac:spMkLst>
            <pc:docMk/>
            <pc:sldMk cId="4092314469" sldId="331"/>
            <ac:spMk id="3" creationId="{514D88C4-C6AF-3654-026D-9E5843DEC367}"/>
          </ac:spMkLst>
        </pc:spChg>
      </pc:sldChg>
      <pc:sldChg chg="addSp delSp modSp new mod">
        <pc:chgData name="Tim Warner" userId="1d9b2d89684621c1" providerId="LiveId" clId="{9C1AC220-CD93-46E4-823F-E96AD2EFE762}" dt="2025-11-11T00:58:37.420" v="51" actId="164"/>
        <pc:sldMkLst>
          <pc:docMk/>
          <pc:sldMk cId="1507816144" sldId="352"/>
        </pc:sldMkLst>
        <pc:spChg chg="mod">
          <ac:chgData name="Tim Warner" userId="1d9b2d89684621c1" providerId="LiveId" clId="{9C1AC220-CD93-46E4-823F-E96AD2EFE762}" dt="2025-11-11T00:56:39.865" v="36" actId="20577"/>
          <ac:spMkLst>
            <pc:docMk/>
            <pc:sldMk cId="1507816144" sldId="352"/>
            <ac:spMk id="2" creationId="{645348D8-2A52-7721-69CD-C888ED70AFB6}"/>
          </ac:spMkLst>
        </pc:spChg>
        <pc:spChg chg="del">
          <ac:chgData name="Tim Warner" userId="1d9b2d89684621c1" providerId="LiveId" clId="{9C1AC220-CD93-46E4-823F-E96AD2EFE762}" dt="2025-11-11T00:56:44.282" v="37" actId="478"/>
          <ac:spMkLst>
            <pc:docMk/>
            <pc:sldMk cId="1507816144" sldId="352"/>
            <ac:spMk id="3" creationId="{EFC2585F-3CD8-7D37-C811-9260EC05B934}"/>
          </ac:spMkLst>
        </pc:spChg>
        <pc:grpChg chg="add mod">
          <ac:chgData name="Tim Warner" userId="1d9b2d89684621c1" providerId="LiveId" clId="{9C1AC220-CD93-46E4-823F-E96AD2EFE762}" dt="2025-11-11T00:58:37.420" v="51" actId="164"/>
          <ac:grpSpMkLst>
            <pc:docMk/>
            <pc:sldMk cId="1507816144" sldId="352"/>
            <ac:grpSpMk id="10" creationId="{91F78F56-5D8B-FE9D-5084-F577C613E6BF}"/>
          </ac:grpSpMkLst>
        </pc:grpChg>
        <pc:picChg chg="add del">
          <ac:chgData name="Tim Warner" userId="1d9b2d89684621c1" providerId="LiveId" clId="{9C1AC220-CD93-46E4-823F-E96AD2EFE762}" dt="2025-11-11T00:57:52.971" v="44" actId="22"/>
          <ac:picMkLst>
            <pc:docMk/>
            <pc:sldMk cId="1507816144" sldId="352"/>
            <ac:picMk id="5" creationId="{5B77725A-99A3-2E19-95EC-152E0F2EBFE8}"/>
          </ac:picMkLst>
        </pc:picChg>
        <pc:picChg chg="add del mod">
          <ac:chgData name="Tim Warner" userId="1d9b2d89684621c1" providerId="LiveId" clId="{9C1AC220-CD93-46E4-823F-E96AD2EFE762}" dt="2025-11-11T00:58:15.968" v="47" actId="478"/>
          <ac:picMkLst>
            <pc:docMk/>
            <pc:sldMk cId="1507816144" sldId="352"/>
            <ac:picMk id="7" creationId="{7389D22C-7B53-2B6D-AAFC-16DC260BFD34}"/>
          </ac:picMkLst>
        </pc:picChg>
        <pc:picChg chg="add mod">
          <ac:chgData name="Tim Warner" userId="1d9b2d89684621c1" providerId="LiveId" clId="{9C1AC220-CD93-46E4-823F-E96AD2EFE762}" dt="2025-11-11T00:58:37.420" v="51" actId="164"/>
          <ac:picMkLst>
            <pc:docMk/>
            <pc:sldMk cId="1507816144" sldId="352"/>
            <ac:picMk id="9" creationId="{FB4AC761-81B3-53C5-0FCE-E2D0F7914F7E}"/>
          </ac:picMkLst>
        </pc:picChg>
        <pc:picChg chg="add mod">
          <ac:chgData name="Tim Warner" userId="1d9b2d89684621c1" providerId="LiveId" clId="{9C1AC220-CD93-46E4-823F-E96AD2EFE762}" dt="2025-11-11T00:58:37.420" v="51" actId="164"/>
          <ac:picMkLst>
            <pc:docMk/>
            <pc:sldMk cId="1507816144" sldId="352"/>
            <ac:picMk id="1026" creationId="{8784667E-65DE-949F-BE15-71EF8DE9C20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Mon, 11/10/2025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Let's establish why Storage Migration Service exists and why it's a game-changer compared to traditional migration methods like robocopy scripts and manual share recreation.
BULLETS:
• Storage Migration Service is a built-in Windows Server feature - SMS ships with Windows Server 2019 and later - no additional licensing required. It's a role you install like any other. The orchestrator server manages migrations but doesn't need to be your destination server. Think of it as a migration conductor that can manage multiple migrations simultaneously.
• Automates file server migrations through Inventory → Transfer → Cutover - Three distinct phases, each with validation. Inventory discovers everything - files, folders, shares, permissions, even local users and groups. Transfer uses SMB3 for efficient, secure copying with automatic retry on failures. Cutover is the identity switch - old server name and IP move to new server. No user retraining, no drive remapping.
• Preserves NTFS permissions, shares, and configurations - This is where SMS shines. Every ACL, every share permission, every quota setting - it all comes across. Share names, descriptions, offline settings, ABE (Access-Based Enumeration) configurations - preserved. Even preserves file timestamps and attributes. No more "the permissions are all screwed up" tickets after migration.
• Integrates with Windows Admin Center for GUI-based management - Forget PowerShell for once (I know, heresy). WAC makes SMS point-and-click easy. Visual progress bars, validation warnings, pre-flight checks. You can manage multiple migration jobs, monitor transfer speeds, and handle errors all from a web browser. PowerShell is there if you need it, but WAC is how Microsoft wants you to use SMS.
• Adventure Works uses SMS to move from aging 2012 R2 servers to Azure VMs - Adventure Works has 20TB on Windows Server 2012 R2 file servers - hardware is dying, support ended. They deploy Server 2022 as SMS orchestrator, use WAC to inventory their file servers (discovering 1,500 shares and complex DFS namespaces), transfer data over a weekend (with delta syncs during the week), then cutover during a 2-hour maintenance window. Users come in Monday using same drive mappings, same shortcuts - no idea they're now hitting Azure VMs.
AZ-801 EXAM TIP: Know what SMS can and CAN'T migrate. CAN: Files, folders, shares, NTFS permissions, local users/groups, DFS namespaces. CAN'T: Encrypted files (EFS), mounted drives, clustered file servers (use Cluster Migration Wizard instead), or FTP sites. If the exam mentions "Windows Server 2003 file server," SMS can migrate FROM it but not TO it - destination must be 2012 R2 or later.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The Inventory and Transfer phases are where SMS does the heavy lifting - discovering your environment and moving your data without breaking anything.
BULLETS:
• Inventory scans source servers for files, shares, ACLs, and settings - The inventory phase is read-only reconnaissance. SMS catalogs everything: file count, total size, share configurations, NTFS permissions down to individual files, local users and groups that have permissions, DFS namespace membership. It generates a detailed report showing what will migrate and what won't. This phase typically takes minutes to hours depending on file count, not size.
• Transfer securely copies data to destination servers - Transfer uses SMB3 with encryption and compression. It's multi-threaded, handles long paths (&gt;260 characters), and automatically retries failed transfers. Supports delta synchronization - run transfer multiple times to catch changes, minimizing cutover window. Bandwidth throttling available to prevent network saturation. Progress tracking shows MB/sec, files remaining, estimated completion time.
• Supports migrations from Windows Server 2003 and later - Source servers can be ancient - Server 2003 SP2 minimum (though why are you still running 2003?). Destination must be Server 2012 R2 or later. Cross-domain and workgroup migrations supported with appropriate credentials. Can migrate from physical to virtual, on-prem to cloud, or any combination. Linux Samba shares are technically supported but not recommended.
• DFS (Distributed File System) namespaces migrate seamlessly - This is huge for enterprises. SMS understands DFS-N and DFS-R. It can migrate namespace servers, preserve folder targets, and maintain referral ordering. DFS-R (replication) needs manual reconfiguration post-migration, but namespaces just work. No need to rebuild your entire DFS infrastructure. Client referral caching means you might need to run 'dfsutil cache referral flush' after cutover.
• Fabrikam inventories 50 branch servers to consolidate into 2025 hardware - Fabrikam has sprawling branch offices with local file servers - maintenance nightmare. They use SMS to inventory all 50 servers from central orchestrator, discovering 500TB total, 10,000+ shares, complex permission structures. Transfer phase runs over multiple weekends using delta sync. They consolidate onto 5 regional Server 2025 hosts with deduplication enabled, reducing storage footprint by 40%. Branch users keep their drive mappings via DFS namespaces.
AZ-801 EXAM TIP: The exam tests transfer phase options. Know these: Delta sync minimizes cutover window by pre-copying data. Validation ensures data integrity with checksums. Error threshold stops transfer if too many failures occur (default 100). Transfer uses SMB3, so features like multichannel and RDMA work if available. If asked about transfer performance, remember it's typically limited by network bandwidth, not SMS itself.</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The Cutover phase is where the magic happens - your new server literally steals the identity of the old server, making the migration transparent to users.
BULLETS:
• Cutover switches production workloads to the new server - This is the point of no return. Cutover performs final delta sync, then executes the identity takeover. Old server gets renamed (typically OldServerName-OLD), releases its IP address, and is removed from domain. New server takes the original name and IP. DNS records update automatically. SPNs (Service Principal Names) transfer for Kerberos authentication. Whole process takes 5-15 minutes typically.
• Computer name and IP address takeover ensures continuity - Users' drive mappings, shortcuts, scripts, and applications all continue working because the server identity is preserved. No need to update connection strings, no GPO changes, no login script modifications. Even hard-coded UNC paths keep working. The old server must be online during cutover for the handoff to work - it's not a disaster recovery tool.
• Active Directory object updated to match new host - The computer account in AD is updated with new SID, new operating system version, and new service attributes. Group memberships transfer, GPO links remain, published shares in AD stay valid. If using GMSA (Group Managed Service Accounts), they'll need to be reconfigured. Computer object description updates to note migration date for documentation.
• Maintenance window minimizes user disruption - Cutover requires brief downtime - typically 5-30 minutes depending on final sync size. Plan for after-hours or weekend window. SMS can schedule cutover for specific time. Best practice: Do transfer phase days/weeks ahead with delta syncs, minimize data change during cutover window. Notify users about maintenance, have rollback plan ready (though rollback is complex after cutover starts).
• Contoso schedules cutover during off-hours to avoid downtime - Contoso migrates their primary file server (10TB, 500 users) from Server 2016 to Server 2022. Transfer phase runs for two weeks with nightly delta syncs, copying only changes. Friday 10 PM cutover window: final delta sync (only 5GB changed that day), identity takeover completes in 12 minutes, validation testing confirms shares accessible. Monday morning users connect normally, experience improved performance from newer hardware. Old server kept powered off for 30 days as insurance.
AZ-801 EXAM TIP: Cutover prerequisites are exam favorites. Source server must be domain-joined and online. Destination must be domain-joined but NOT have the target name/IP yet. Both need SMB access. AD replication must be healthy - cutover will fail if domain controllers can't replicate. If exam asks about rollback, it's complex: must manually rename servers, reassign IPs, and update DNS. Better to test thoroughly than rely on rollback.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SMS isn't just for on-premises migrations - it's fully integrated with Azure Migrate for lifting file servers into Azure VMs seamlessly.
BULLETS:
• SMS integrates with Azure Migrate for hybrid migrations - Azure Migrate acts as the cloud orchestrator while SMS handles the data movement. You install Azure Migrate appliance on-premises for discovery, create replication settings in Azure Portal, then use SMS for the actual migration. The integration means you get Azure Migrate's assessment capabilities (right-sizing, cost estimates) combined with SMS's data preservation features.
• Destination VM prepared with domain join and networking - Before migration, Azure VMs are pre-staged: deployed in correct subnet, domain-joined using Azure VM extensions or manual process, storage configured (managed disks or Azure NetApp Files), NSG rules allow SMB traffic from on-premises. Azure Hybrid Benefit reduces Windows licensing costs. VM generation (Gen1 vs Gen2) must match source for boot compatibility.
• Data transfer validated before redirection - SMS performs test cutover in Azure before final migration. Validates all shares accessible, permissions intact, and performance acceptable. Azure Migrate can maintain replication for rollback option. Network connectivity via ExpressRoute or VPN required for domain authentication. Consider Azure File Sync for gradual migration or hybrid scenarios where some data stays on-premises.
• Azure File Sync can extend migration to hybrid cloud scenarios - Instead of pure lift-and-shift, use Azure File Sync for intelligent tiering. Hot data cached on-premises, cold data in Azure Files. Provides cloud backup, multi-site sync, and cloud tiering. SMS migrates to on-prem server first, then Azure File Sync agent syncs to cloud. Perfect for branch office scenarios or when bandwidth is limited.
• Tailwind Traders lifts departmental file servers into Azure for elasticity - Tailwind has 15 departmental file servers, each 2-5TB, sporadic usage patterns. They use SMS with Azure Migrate to move to Azure VMs (D4s_v5 series with Premium SSD). ExpressRoute provides connectivity for domain authentication. Post-migration, they implement auto-shutdown for cost savings and Azure Backup for data protection. Result: 60% cost reduction compared to on-premises hardware refresh, plus built-in disaster recovery.
AZ-801 EXAM TIP: For Azure VM migrations, know the networking requirements. ExpressRoute or Site-to-Site VPN needed for domain authentication. Azure Files requires port 445 outbound (often blocked by ISPs). VM sizing should account for IOPS and throughput, not just capacity. If exam mentions "cost optimization," think Azure Files with lifecycle management (hot/cool/archive tiers) rather than VMs.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Sometimes you don't want to manage servers at all - Azure Files gives you fully managed SMB shares in the cloud, and SMS can migrate directly to them.
BULLETS:
• Azure Files provides fully managed SMB and NFS shares - Azure Files is PaaS storage - no VMs to patch, no OS to manage. Supports SMB 3.1.1 with encryption and channel encryption. NFS 4.1 for Linux workloads. Integrates with Azure services like AKS, Azure VMs, and App Service. Up to 100 TiB per share, 10,000 IOPS standard, 100,000 IOPS premium. Accessible from anywhere via internet (port 445) or private endpoints.
• Integrates with Azure AD for identity-based access - Azure Files supports Azure AD Domain Services or on-premises AD DS authentication. Kerberos authentication for SMB shares, same user experience as traditional file servers. ACLs preserved during migration. Azure RBAC controls share-level permissions, NTFS ACLs control file/folder permissions. No more managing local users and groups on file servers.
• Supports performance tiers (premium, hot, cool) for cost optimization - Premium tier uses SSD storage for database workloads, up to 10 Gbps throughput. Standard tier with hot (frequent access), cool (infrequent, 30+ days), and archive (rare access, 180+ days). Lifecycle management policies automatically move files between tiers based on access patterns. Can save 60-80% on storage costs with intelligent tiering.
• Built-in backup with Azure Backup ensures durability - Azure Backup integrates natively - snapshot-based backups up to 200 snapshots per share. Point-in-time restore, file-level recovery, or entire share restore. Snapshots don't count against storage quota. Soft delete protects against accidental deletion (retain up to 365 days). Geo-redundant storage provides 16 nines durability.
• Fabrikam moves archival data to Azure Files to reduce datacenter footprint - Fabrikam has 100TB of archived projects on aging SAN storage. They use SMS to migrate to Azure Files standard tier with cool access. Implement lifecycle management to move untouched files to archive tier after 180 days. Result: $200K hardware refresh avoided, 75% reduction in storage costs, data accessible globally via private endpoints. They keep Azure File Sync on one server for fast local access to recently accessed files.
AZ-801 EXAM TIP: Azure Files limitations are exam favorites. Port 445 must be open outbound (many ISPs block it). Maximum file size is 4 TiB for standard, 1 TiB for premium. REST API available if port 445 is blocked. For authentication, know the difference: Azure AD DS is managed, AD DS requires domain controller in Azure or VPN/ExpressRoute to on-prem DC. Storage account keys work but aren't recommended for production - they're like giving out sa passwords.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Let's wrap up with your complete storage migration toolkit and decision framework for choosing the right destination for your data.
The shortened URL go.techtrainertim.com/blah should point to:
- Storage Migration Service step-by-step guide
- Windows Admin Center installation and SMS setup
- Azure Files vs Azure VMs decision matrix
- Azure File Sync configuration guide
- SMS PowerShell cmdlet reference
Remember the migration decision tree:
- Staying on-prem? → SMS to new Windows Server
- Want IaaS in Azure? → SMS with Azure Migrate to VMs
- Want PaaS simplicity? → SMS or Azure File Sync to Azure Files
- Need hybrid? → Azure File Sync for intelligent tiering
For the AZ-801 exam, focus on:
- SMS three phases: Inventory, Transfer, Cutover
- Prerequisites: .NET 4.7.2, PowerShell 5.1, Server 2019+ orchestrator
- Cutover requirements: Source online, domain replication healthy
- Azure Files limitations: Port 445, file size limits
- Authentication options: AD DS, Azure AD DS, storage keys
Critical PowerShell to memorize:
- Get-SmsState (check migration status)
- New-SmsJob (create migration job)
- Start-SmsInventory (begin inventory phase)
- Start-SmsTransfer (begin transfer phase)
- Start-SmsCutover (execute cutover)
Common gotchas:
- SMS orchestrator must be Server 2019 or later
- Can't migrate FROM Server 2019+ TO older versions
- Clustered file servers need different tools
- Azure Files requires port 445 outbound
- Cutover is one-way - test thoroughly first</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Mon, 11/10/2025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16: Migrate Storage Using SMS</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46704"/>
            <a:ext cx="3516430" cy="2979037"/>
          </a:xfrm>
        </p:spPr>
        <p:txBody>
          <a:bodyPr>
            <a:noAutofit/>
          </a:bodyPr>
          <a:lstStyle/>
          <a:p>
            <a:pPr>
              <a:spcBef>
                <a:spcPts val="200"/>
              </a:spcBef>
              <a:spcAft>
                <a:spcPts val="400"/>
              </a:spcAft>
            </a:pPr>
            <a:r>
              <a:rPr lang="en-US" sz="1400" dirty="0"/>
              <a:t>16.1. Transfer files, file shares, and security configurations by using Storage Migration Service (SMS) </a:t>
            </a:r>
          </a:p>
          <a:p>
            <a:pPr>
              <a:spcBef>
                <a:spcPts val="200"/>
              </a:spcBef>
              <a:spcAft>
                <a:spcPts val="400"/>
              </a:spcAft>
            </a:pPr>
            <a:r>
              <a:rPr lang="en-US" sz="1400" dirty="0"/>
              <a:t>16.2. Cut over to a new server by using Storage Migration Service (SMS) </a:t>
            </a:r>
          </a:p>
          <a:p>
            <a:pPr>
              <a:spcBef>
                <a:spcPts val="200"/>
              </a:spcBef>
              <a:spcAft>
                <a:spcPts val="400"/>
              </a:spcAft>
            </a:pPr>
            <a:r>
              <a:rPr lang="en-US" sz="1400" dirty="0"/>
              <a:t>16.3. Use Storage Migration Service to migrate to Azure VMs </a:t>
            </a:r>
          </a:p>
          <a:p>
            <a:pPr>
              <a:spcBef>
                <a:spcPts val="200"/>
              </a:spcBef>
              <a:spcAft>
                <a:spcPts val="400"/>
              </a:spcAft>
            </a:pPr>
            <a:r>
              <a:rPr lang="en-US" sz="1400" dirty="0"/>
              <a:t>16.4. Migrate to Azure file shares </a:t>
            </a:r>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16.1 Transfer files, file shares, and security configurations by using Storage Migration Service (SMS)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Modernize file servers with minimal downtime</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Storage Migration Service is a built-in Windows Server feature</a:t>
            </a:r>
          </a:p>
          <a:p>
            <a:r>
              <a:rPr lang="en-US" sz="1800" dirty="0"/>
              <a:t>Automates file server migrations through Inventory → Transfer → Cutover</a:t>
            </a:r>
          </a:p>
          <a:p>
            <a:r>
              <a:rPr lang="en-US" sz="1800" dirty="0"/>
              <a:t>Preserves NTFS permissions, shares, and configurations</a:t>
            </a:r>
          </a:p>
          <a:p>
            <a:r>
              <a:rPr lang="en-US" sz="1800" dirty="0"/>
              <a:t>Integrates with Windows Admin Center for GUI-based management</a:t>
            </a:r>
          </a:p>
          <a:p>
            <a:r>
              <a:rPr lang="en-US" sz="1800" dirty="0"/>
              <a:t>Adventure Works uses SMS to move from aging 2012 R2 servers to Azure VMs</a:t>
            </a:r>
          </a:p>
        </p:txBody>
      </p:sp>
    </p:spTree>
    <p:extLst>
      <p:ext uri="{BB962C8B-B14F-4D97-AF65-F5344CB8AC3E}">
        <p14:creationId xmlns:p14="http://schemas.microsoft.com/office/powerpoint/2010/main" val="158333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314877" cy="463628"/>
          </a:xfrm>
        </p:spPr>
        <p:txBody>
          <a:bodyPr/>
          <a:lstStyle/>
          <a:p>
            <a:r>
              <a:rPr lang="en-US" sz="2400" dirty="0"/>
              <a:t>Capture/copy workloads with inventory and transfer phases</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Inventory scans source servers for files, shares, ACLs, and settings</a:t>
            </a:r>
          </a:p>
          <a:p>
            <a:r>
              <a:rPr lang="en-US" sz="1800" dirty="0"/>
              <a:t>Transfer securely copies data to destination servers</a:t>
            </a:r>
          </a:p>
          <a:p>
            <a:r>
              <a:rPr lang="en-US" sz="1800" dirty="0"/>
              <a:t>Supports migrations from Windows Server 2003 and later</a:t>
            </a:r>
          </a:p>
          <a:p>
            <a:r>
              <a:rPr lang="en-US" sz="1800" dirty="0"/>
              <a:t>DFS (Distributed File System) namespaces migrate seamlessly</a:t>
            </a:r>
          </a:p>
          <a:p>
            <a:r>
              <a:rPr lang="en-US" sz="1800" dirty="0" err="1"/>
              <a:t>Fabrikam</a:t>
            </a:r>
            <a:r>
              <a:rPr lang="en-US" sz="1800" dirty="0"/>
              <a:t> inventories 50 branch servers to consolidate into 2025 hardware</a:t>
            </a:r>
          </a:p>
        </p:txBody>
      </p:sp>
    </p:spTree>
    <p:extLst>
      <p:ext uri="{BB962C8B-B14F-4D97-AF65-F5344CB8AC3E}">
        <p14:creationId xmlns:p14="http://schemas.microsoft.com/office/powerpoint/2010/main" val="1739677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16.2 Cut over to a new server by using Storage Migration Service (SMS)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Redirect access with seamless cutover</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Cutover switches production workloads to the new server</a:t>
            </a:r>
          </a:p>
          <a:p>
            <a:r>
              <a:rPr lang="en-US" sz="1800" dirty="0"/>
              <a:t>Computer name and IP address takeover ensures continuity</a:t>
            </a:r>
          </a:p>
          <a:p>
            <a:r>
              <a:rPr lang="en-US" sz="1800" dirty="0"/>
              <a:t>Active Directory object updated to match new host</a:t>
            </a:r>
          </a:p>
          <a:p>
            <a:r>
              <a:rPr lang="en-US" sz="1800" dirty="0"/>
              <a:t>Maintenance window minimizes user disruption</a:t>
            </a:r>
          </a:p>
          <a:p>
            <a:r>
              <a:rPr lang="en-US" sz="1800" dirty="0"/>
              <a:t>Contoso schedules cutover during off-hours to avoid downtime</a:t>
            </a:r>
          </a:p>
        </p:txBody>
      </p:sp>
    </p:spTree>
    <p:extLst>
      <p:ext uri="{BB962C8B-B14F-4D97-AF65-F5344CB8AC3E}">
        <p14:creationId xmlns:p14="http://schemas.microsoft.com/office/powerpoint/2010/main" val="3315916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16.3 Use Storage Migration Service to migrate to Azure VMs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Move file servers directly into Azure</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SMS integrates with Azure Migrate for hybrid migrations</a:t>
            </a:r>
          </a:p>
          <a:p>
            <a:r>
              <a:rPr lang="en-US" sz="1800" dirty="0"/>
              <a:t>Destination VM prepared with domain join and networking</a:t>
            </a:r>
          </a:p>
          <a:p>
            <a:r>
              <a:rPr lang="en-US" sz="1800" dirty="0"/>
              <a:t>Data transfer validated before redirection</a:t>
            </a:r>
          </a:p>
          <a:p>
            <a:r>
              <a:rPr lang="en-US" sz="1800" dirty="0"/>
              <a:t>Azure File Sync can extend migration to hybrid cloud scenarios</a:t>
            </a:r>
          </a:p>
          <a:p>
            <a:r>
              <a:rPr lang="en-US" sz="1800" dirty="0"/>
              <a:t>Tailwind Traders lifts departmental file servers into Azure for elasticity</a:t>
            </a:r>
          </a:p>
        </p:txBody>
      </p:sp>
    </p:spTree>
    <p:extLst>
      <p:ext uri="{BB962C8B-B14F-4D97-AF65-F5344CB8AC3E}">
        <p14:creationId xmlns:p14="http://schemas.microsoft.com/office/powerpoint/2010/main" val="1066646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348D8-2A52-7721-69CD-C888ED70AFB6}"/>
              </a:ext>
            </a:extLst>
          </p:cNvPr>
          <p:cNvSpPr>
            <a:spLocks noGrp="1"/>
          </p:cNvSpPr>
          <p:nvPr>
            <p:ph type="title"/>
          </p:nvPr>
        </p:nvSpPr>
        <p:spPr/>
        <p:txBody>
          <a:bodyPr/>
          <a:lstStyle/>
          <a:p>
            <a:r>
              <a:rPr lang="en-US" dirty="0"/>
              <a:t>Azure File Sync (AFS)</a:t>
            </a:r>
          </a:p>
        </p:txBody>
      </p:sp>
      <p:grpSp>
        <p:nvGrpSpPr>
          <p:cNvPr id="10" name="Group 9">
            <a:extLst>
              <a:ext uri="{FF2B5EF4-FFF2-40B4-BE49-F238E27FC236}">
                <a16:creationId xmlns:a16="http://schemas.microsoft.com/office/drawing/2014/main" id="{91F78F56-5D8B-FE9D-5084-F577C613E6BF}"/>
              </a:ext>
            </a:extLst>
          </p:cNvPr>
          <p:cNvGrpSpPr/>
          <p:nvPr/>
        </p:nvGrpSpPr>
        <p:grpSpPr>
          <a:xfrm>
            <a:off x="1087581" y="808211"/>
            <a:ext cx="7310233" cy="3950825"/>
            <a:chOff x="1087581" y="808211"/>
            <a:chExt cx="7310233" cy="3950825"/>
          </a:xfrm>
        </p:grpSpPr>
        <p:pic>
          <p:nvPicPr>
            <p:cNvPr id="1026" name="Picture 2">
              <a:extLst>
                <a:ext uri="{FF2B5EF4-FFF2-40B4-BE49-F238E27FC236}">
                  <a16:creationId xmlns:a16="http://schemas.microsoft.com/office/drawing/2014/main" id="{8784667E-65DE-949F-BE15-71EF8DE9C2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7581" y="808211"/>
              <a:ext cx="7310233" cy="39508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B4AC761-81B3-53C5-0FCE-E2D0F7914F7E}"/>
                </a:ext>
              </a:extLst>
            </p:cNvPr>
            <p:cNvPicPr>
              <a:picLocks noChangeAspect="1"/>
            </p:cNvPicPr>
            <p:nvPr/>
          </p:nvPicPr>
          <p:blipFill>
            <a:blip r:embed="rId3"/>
            <a:stretch>
              <a:fillRect/>
            </a:stretch>
          </p:blipFill>
          <p:spPr>
            <a:xfrm>
              <a:off x="1153899" y="808211"/>
              <a:ext cx="5004446" cy="400071"/>
            </a:xfrm>
            <a:prstGeom prst="rect">
              <a:avLst/>
            </a:prstGeom>
          </p:spPr>
        </p:pic>
      </p:grpSp>
    </p:spTree>
    <p:extLst>
      <p:ext uri="{BB962C8B-B14F-4D97-AF65-F5344CB8AC3E}">
        <p14:creationId xmlns:p14="http://schemas.microsoft.com/office/powerpoint/2010/main" val="1507816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16.4 </a:t>
            </a:r>
            <a:r>
              <a:rPr lang="en-US" sz="3600" dirty="0">
                <a:solidFill>
                  <a:srgbClr val="0978D8"/>
                </a:solidFill>
              </a:rPr>
              <a:t>Migrate to Azure file shares </a:t>
            </a:r>
          </a:p>
        </p:txBody>
      </p:sp>
    </p:spTree>
    <p:extLst>
      <p:ext uri="{BB962C8B-B14F-4D97-AF65-F5344CB8AC3E}">
        <p14:creationId xmlns:p14="http://schemas.microsoft.com/office/powerpoint/2010/main" val="578841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Modernize workloads with Azure Files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Azure Files provides fully managed SMB and NFS shares</a:t>
            </a:r>
          </a:p>
          <a:p>
            <a:r>
              <a:rPr lang="en-US" sz="1800" dirty="0"/>
              <a:t>Integrates with Entra ID for identity-based access</a:t>
            </a:r>
          </a:p>
          <a:p>
            <a:r>
              <a:rPr lang="en-US" sz="1800" dirty="0"/>
              <a:t>Supports performance tiers (premium, hot, cool) for cost optimization</a:t>
            </a:r>
          </a:p>
          <a:p>
            <a:r>
              <a:rPr lang="en-US" sz="1800" dirty="0"/>
              <a:t>Built-in backup with Azure Backup ensures durability</a:t>
            </a:r>
          </a:p>
          <a:p>
            <a:r>
              <a:rPr lang="en-US" sz="1800" dirty="0" err="1"/>
              <a:t>Fabrikam</a:t>
            </a:r>
            <a:r>
              <a:rPr lang="en-US" sz="1800" dirty="0"/>
              <a:t> moves archival data to Azure Files to reduce datacenter footprint</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Diagram title in sentence case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73037" y="4599417"/>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go.techtrainertim.com/blah</a:t>
            </a:r>
          </a:p>
        </p:txBody>
      </p:sp>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8418544ccbba6eabd8ad7f32b71cd208">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263f9987bbc11137d77341febd189c27"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customXml/itemProps2.xml><?xml version="1.0" encoding="utf-8"?>
<ds:datastoreItem xmlns:ds="http://schemas.openxmlformats.org/officeDocument/2006/customXml" ds:itemID="{D39B253B-5186-4D64-962B-C0099FCDCF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20C99BF-5DBB-4E5E-8232-1660DCDA7D83}">
  <ds:schemaRefs>
    <ds:schemaRef ds:uri="http://schemas.microsoft.com/sharepoint/v3/contenttype/forms"/>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34766</TotalTime>
  <Words>3260</Words>
  <Application>Microsoft Office PowerPoint</Application>
  <PresentationFormat>On-screen Show (16:9)</PresentationFormat>
  <Paragraphs>53</Paragraphs>
  <Slides>13</Slides>
  <Notes>7</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Modernize file servers with minimal downtime</vt:lpstr>
      <vt:lpstr>Capture/copy workloads with inventory and transfer phases</vt:lpstr>
      <vt:lpstr>PowerPoint Presentation</vt:lpstr>
      <vt:lpstr>Redirect access with seamless cutover</vt:lpstr>
      <vt:lpstr>PowerPoint Presentation</vt:lpstr>
      <vt:lpstr>Move file servers directly into Azure</vt:lpstr>
      <vt:lpstr>Azure File Sync (AFS)</vt:lpstr>
      <vt:lpstr>PowerPoint Presentation</vt:lpstr>
      <vt:lpstr>Modernize workloads with Azure Files</vt:lpstr>
      <vt:lpstr>Diagram title in sentence case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104</cp:revision>
  <dcterms:created xsi:type="dcterms:W3CDTF">2015-09-28T19:52:00Z</dcterms:created>
  <dcterms:modified xsi:type="dcterms:W3CDTF">2025-11-11T00:58:43Z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