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4"/>
  </p:sldMasterIdLst>
  <p:notesMasterIdLst>
    <p:notesMasterId r:id="rId19"/>
  </p:notesMasterIdLst>
  <p:sldIdLst>
    <p:sldId id="303" r:id="rId5"/>
    <p:sldId id="292" r:id="rId6"/>
    <p:sldId id="293" r:id="rId7"/>
    <p:sldId id="350" r:id="rId8"/>
    <p:sldId id="349" r:id="rId9"/>
    <p:sldId id="343" r:id="rId10"/>
    <p:sldId id="351" r:id="rId11"/>
    <p:sldId id="346" r:id="rId12"/>
    <p:sldId id="352" r:id="rId13"/>
    <p:sldId id="348" r:id="rId14"/>
    <p:sldId id="353" r:id="rId15"/>
    <p:sldId id="347" r:id="rId16"/>
    <p:sldId id="331" r:id="rId17"/>
    <p:sldId id="342" r:id="rId1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4CB2919-E75C-EAE0-A7E3-E8766035CAC2}" name="Tim Warner" initials="TW" userId="1d9b2d89684621c1" providerId="Windows Live"/>
  <p188:author id="{955C4A35-E9B6-3146-066A-4404D53655C8}" name="scsjcain84" initials="sc" userId="S::scsjcain84_gmail.com#ext#@pearsoneducationinc.onmicrosoft.com::4399dd98-ee8b-4212-9001-7919755a326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onelson, Sean" initials="DS" lastIdx="8" clrIdx="0">
    <p:extLst>
      <p:ext uri="{19B8F6BF-5375-455C-9EA6-DF929625EA0E}">
        <p15:presenceInfo xmlns:p15="http://schemas.microsoft.com/office/powerpoint/2012/main" userId="S::sean.donelson@pearson.com::3e21d0a5-01a9-4113-9b92-c184675e923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5A6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96CC92-3C4B-442F-B13E-4DA3E5BD44BC}" v="1" dt="2025-08-26T07:20:23.390"/>
    <p1510:client id="{C65F9421-A700-42D3-8FB0-1D10C9F5DB9E}" v="35" dt="2025-08-24T15:53:46.9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7" autoAdjust="0"/>
    <p:restoredTop sz="86886" autoAdjust="0"/>
  </p:normalViewPr>
  <p:slideViewPr>
    <p:cSldViewPr snapToGrid="0" snapToObjects="1">
      <p:cViewPr varScale="1">
        <p:scale>
          <a:sx n="127" d="100"/>
          <a:sy n="127" d="100"/>
        </p:scale>
        <p:origin x="92" y="324"/>
      </p:cViewPr>
      <p:guideLst>
        <p:guide orient="horz" pos="1620"/>
        <p:guide pos="2880"/>
      </p:guideLst>
    </p:cSldViewPr>
  </p:slideViewPr>
  <p:outlineViewPr>
    <p:cViewPr>
      <p:scale>
        <a:sx n="33" d="100"/>
        <a:sy n="33" d="100"/>
      </p:scale>
      <p:origin x="0" y="-1756"/>
    </p:cViewPr>
  </p:outlineViewPr>
  <p:notesTextViewPr>
    <p:cViewPr>
      <p:scale>
        <a:sx n="100" d="100"/>
        <a:sy n="100" d="100"/>
      </p:scale>
      <p:origin x="0" y="0"/>
    </p:cViewPr>
  </p:notesTextViewPr>
  <p:sorterViewPr>
    <p:cViewPr>
      <p:scale>
        <a:sx n="150" d="100"/>
        <a:sy n="150" d="100"/>
      </p:scale>
      <p:origin x="0" y="0"/>
    </p:cViewPr>
  </p:sorterViewPr>
  <p:notesViewPr>
    <p:cSldViewPr snapToGrid="0" snapToObjects="1">
      <p:cViewPr varScale="1">
        <p:scale>
          <a:sx n="150" d="100"/>
          <a:sy n="150" d="100"/>
        </p:scale>
        <p:origin x="5840" y="1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34D36D-3512-6D44-83C8-1A4DB417EA2C}" type="datetimeFigureOut">
              <a:rPr lang="en-US" smtClean="0"/>
              <a:t>Fri, 11/7/2025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3C8BCB-A8D7-074E-AD53-2B9312150B6F}" type="slidenum">
              <a:rPr lang="en-US" smtClean="0"/>
              <a:t>‹#›</a:t>
            </a:fld>
            <a:endParaRPr lang="en-US"/>
          </a:p>
        </p:txBody>
      </p:sp>
    </p:spTree>
    <p:extLst>
      <p:ext uri="{BB962C8B-B14F-4D97-AF65-F5344CB8AC3E}">
        <p14:creationId xmlns:p14="http://schemas.microsoft.com/office/powerpoint/2010/main" val="4018348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credit: Tim + ChatGPT Image Generation</a:t>
            </a:r>
          </a:p>
        </p:txBody>
      </p:sp>
      <p:sp>
        <p:nvSpPr>
          <p:cNvPr id="4" name="Slide Number Placeholder 3"/>
          <p:cNvSpPr>
            <a:spLocks noGrp="1"/>
          </p:cNvSpPr>
          <p:nvPr>
            <p:ph type="sldNum" sz="quarter" idx="5"/>
          </p:nvPr>
        </p:nvSpPr>
        <p:spPr/>
        <p:txBody>
          <a:bodyPr/>
          <a:lstStyle/>
          <a:p>
            <a:fld id="{163C8BCB-A8D7-074E-AD53-2B9312150B6F}" type="slidenum">
              <a:rPr lang="en-US" smtClean="0"/>
              <a:t>2</a:t>
            </a:fld>
            <a:endParaRPr lang="en-US"/>
          </a:p>
        </p:txBody>
      </p:sp>
    </p:spTree>
    <p:extLst>
      <p:ext uri="{BB962C8B-B14F-4D97-AF65-F5344CB8AC3E}">
        <p14:creationId xmlns:p14="http://schemas.microsoft.com/office/powerpoint/2010/main" val="1059358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Let's establish why Active Directory migration matters and what your options are when moving to Windows Server 2025.
BULLETS:
• Active Directory Domain Services (AD DS) is the backbone of Windows identity - AD DS isn't just authentication - it's the foundation for Group Policy, certificate services, DNS, and pretty much every Windows enterprise feature. Windows Server 2025 brings enhanced security with Protected Users groups, Authentication Policies, and improved Kerberos armoring.
• Migration ensures compatibility with Windows Server 2025 features - You can't use the new features without the right functional level. Windows Server 2025 functional level enables Privileged Access Management (PAM), enhanced LAPS integration, and cloud authentication features. Plus, you get better hybrid capabilities with Azure AD Connect cloud sync.
• Options: forest restructure, object migration, or in-place upgrade - Three distinct paths, each with different risk profiles. Forest restructure consolidates domains but requires extensive planning. Object migration with ADMT gives granular control but takes longer. In-place upgrade is fastest but riskiest - no easy rollback once you raise functional levels.
• Requires planning for schema updates, trusts, and downtime windows - Schema changes are forest-wide and irreversible - test in a lab first! Trust relationships need reconfiguration during restructures. Plan maintenance windows carefully - some operations like PDC role changes affect the entire forest.
• Contoso refreshes AD to modernize authentication and strengthen security - Contoso runs Windows Server 2012 R2 domain controllers with 2008 R2 functional level. They're missing out on Protected Users, Authentication Policy Silos, and modern Kerberos features. Their migration unlocks Windows Hello for Business and passwordless authentication.
AZ-801 EXAM TIP: Know the functional level requirements for each Windows Server 2025 feature. The exam often asks "What's the minimum functional level for X?" Protected Users requires 2012 R2, Authentication Policies need 2012 R2, and cloud Kerberos trust requires 2016. Always verify all DCs are upgraded before raising functional levels.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Choosing the right migration approach is critical - pick wrong and you'll either face unnecessary risk or waste months on unnecessary complexity.
BULLETS:
• In-place upgrade: fast, but riskier if issues arise - In-place upgrade means running Windows Server 2025 setup on existing domain controllers. It's the fastest path - typically 2-4 hours per DC. But if something goes wrong, recovery is complex. You need good backups and a tested recovery plan. Works best for simple, single-domain forests.
• Side-by-side migration: more control, supports testing and rollback - Build new Windows Server 2025 DCs alongside existing ones, transfer FSMO roles, then decommission old DCs. Takes longer but gives you parallel running for testing. If issues arise, the old DCs are still there. This is Microsoft's recommended approach for production environments.
• Forest restructure: used for mergers or domain consolidation - When you're combining multiple forests or eliminating child domains. ADMT migrates objects while preserving SIDHistory for resource access. Requires extensive planning for DNS namespace changes, trust reconfiguration, and application compatibility testing. Budget 6-12 months for large restructures.
• Dependency mapping critical before selecting approach - Use tools like Microsoft MAP Toolkit or Azure Migrate to discover dependencies. Which apps use LDAP? What's hardcoded to specific DCs? Are there legacy apps requiring NTLM? Document service accounts, scheduled tasks, and anything with domain dependencies before choosing your path.
• Adventure Works selects side-by-side to merge regional forests - Adventure Works has three regional forests from acquisitions - NA.ADVENTURE-WORKS.COM, EU.ADVENTURE-WORKS.COM, and APAC.ADVENTURE-WORKS.COM. They're consolidating into a single ADVENTURE-WORKS.COM forest using side-by-side migration with ADMT, maintaining regional OUs for delegation. Six-month project with staged user migration by region.
AZ-801 EXAM TIP: The exam loves 'which method should you recommend' scenarios. In-place for small, simple environments with good backups. Side-by-side for production environments needing rollback options. Forest restructure only when organizational changes require it. Never do in-place if the question mentions 'minimize risk' or 'ensure rollback capability.'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Forest restructuring is complex but sometimes necessary - especially after mergers or when simplifying overly complex AD hierarchies from the early 2000s.
BULLETS:
• Consolidates domains/forests into simplified hierarchy - Forest restructure typically means collapsing multiple domains into one, or merging forests after acquisitions. You're simplifying from something like CORP.COMPANY.COM with SALES.CORP.COMPANY.COM and IT.CORP.COMPANY.COM child domains down to just COMPANY.COM with OUs. Reduces replication traffic and simplifies administration.
• Requires planning for trusts, DNS, and SIDHistory - Trust relationships are your lifeline during migration. Set up forest trusts first, then migrate in phases. DNS requires careful planning - do you keep the old namespace or consolidate? SIDHistory lets migrated users access resources with old SIDs, but it has a 30-day tombstone lifetime limitation in Windows Server 2025.
• Migrates user, group, and computer accounts with minimal disruption - ADMT handles the heavy lifting, but sequencing matters. Migrate groups first, then users, then computers. Why? Users need their group memberships, and computers need valid user accounts for profiles. Run ADMT in test mode first to identify issues without making changes.
• Tools include Active Directory Migration Tool (ADMT) - ADMT 3.2 is your go-to tool, but know its requirements. Source domain needs TCP/RPC access to target domain. Password Export Server (PES) requires a reboot on source DC. ADMT doesn't migrate some attributes like SID, password history, or certificate templates - plan accordingly.
• Fabrikam restructures multiple legacy forests into one global forest - Fabrikam has five forests from acquisitions over 20 years. They're consolidating to FABRIKAM.GLOBAL with regional OUs. Using ADMT with SIDHistory migration, phased by business unit. The project includes Exchange migration, requiring careful mailbox permission preservation. Total timeline: 18 months with parallel running for 6 months.
AZ-801 EXAM TIP: ADMT questions focus on prerequisites and limitations. Remember: ADMT requires domain admin rights in source and target, needs agent deployment for computer migration, and PES must be installed on a domain controller. The exam often asks about what ADMT can't migrate - like schema changes, certificate templates, or domain local groups across forests.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ADMT is where the rubber meets the road - this is the tool that actually moves your Active Directory objects between domains or forests while preserving access to resources.
BULLETS:
• ADMT migrates users, groups, and computers across forests - ADMT handles intra-forest (between domains in same forest) and inter-forest migrations. It migrates user accounts with properties, group memberships with nesting, computer accounts with local profiles, and even service accounts. Version 3.2 supports source domains from Windows Server 2008 and higher.
• SIDHistory preserves access to existing resources - Here's the magic: SIDHistory adds the old SID to the migrated object's SIDHistory attribute. When users access resources, Windows checks both current SID and SIDHistory. This means users keep working without re-permissioning every file share and database. But remember - SIDHistory is meant to be temporary during migration, not permanent.
• Password Export Server migrates credentials securely - PES is a separate component installed on source domain controllers. It encrypts passwords using 128-bit encryption and transmits them to ADMT over RPC. Critical point: PES installation requires a DC reboot, so plan maintenance windows. Without PES, users must reset passwords after migration.
• Supports testing migrations with pilot groups - Always run ADMT in test mode first using the /TM switch. Create pilot groups with representatives from each department. Migrate them first, test all applications, then proceed with full migration. ADMT reporting mode shows what will be migrated without making changes - use this extensively.
• Tailwind Traders migrates accounts from 2012 R2 to 2025 domain - Tailwind Traders is moving 5,000 users from TAILWIND.LOCAL (Windows Server 2012 R2) to TRADERS.COM (Windows Server 2025). They're using ADMT with PES for password migration, maintaining SIDHistory for 90 days. Migration is staged by department over 3 months. They discovered 200 service accounts that need careful handling to avoid application outages.
AZ-801 EXAM TIP: The exam tests ADMT command-line switches and options. Know these: /TM for test mode, /PES for password migration, /SidHistory:YES to include SIDHistory, /ExcludeProps to skip specific attributes. If the exam mentions "users must access resources immediately after migration," that's your cue for SIDHistory. "Minimize password resets" means use PES.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Sometimes you need to start fresh - a new forest gives you a clean slate to implement modern best practices without legacy baggage dragging you down.
BULLETS:
• Create new 2025 forest and establish trusts - Start by deploying new Windows Server 2025 domain controllers in a fresh forest. Set forest functional level to Windows Server 2025 immediately - no legacy compatibility needed. Establish forest trusts with existing forests for the migration period. Use selective authentication on trusts for security.
• Migrate accounts, policies, and resources step by step - Order matters: First create OU structure and GPOs in new forest. Then migrate groups (universal first, then global, then domain local). Users come next with ADMT, maintaining SIDHistory. Finally, migrate computers in phases by department. Each phase needs validation before proceeding.
• Clean forest avoids legacy configuration baggage - No more legacy schema extensions from Exchange 2003. No more remnants of failed SharePoint installations. No more custom attributes from that vendor who went out of business. You get Microsoft latest schema, modern security defaults, and clean administrative delegation. Plus, you can implement proper naming conventions from the start.
• Requires careful coexistence planning during migration - Plan for 3-6 months of forests running in parallel. Users might exist in both forests temporarily. Configure Exchange for cross-forest mail flow. Set up SQL Server linked servers for database access. Use DFS namespaces to abstract file server locations. Document which forest owns each service during transition.
• Contoso deploys a new forest to replace heavily customized legacy AD - Contoso existing forest has 15 years of schema modifications from various applications. Rather than risk upgrade issues, they build CONTOSO.CLOUD fresh on Windows Server 2025. Migration uses ADMT with selective attribute filtering to leave behind obsolete custom attributes. The new forest implements Administrative Tier Model and Privileged Access Workstations from day one.
AZ-801 EXAM TIP: New forest migration questions focus on trust types and directions. Remember: Forest trusts can be one-way or two-way, transitive across domains in the trusted forest. External trusts are always non-transitive. For "selective authentication," users need explicit "Allowed to Authenticate" permission on target resources. The exam often combines this with questions about Kerberos vs NTLM authentication across trusts.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The in-place upgrade path - raising functional levels to unlock new features. This is the simplest approach when your environment is healthy and you just need the latest capabilities.
BULLETS:
• Raise forest and domain functional levels to unlock new features - Functional levels are one-way gates - once raised, no going back. Domain functional level must be raised before forest level. Each level unlocks specific features: 2016 adds Privileged Access Management, 2025 adds enhanced Azure AD integration. Check all domain controllers are upgraded first using Get-ADDomain and Get-ADForest cmdlets.
• Requires upgrading all domain controllers first - You cannot raise functional level until ALL domain controllers run the minimum required OS. Use Get-ADDomainController -Filter * to verify versions. Upgrade order: Start with non-FSMO holders, then RID Master, Infrastructure Master, PDC Emulator last. Why PDC last? It's the most critical for authentication and time sync.
• Schema extensions applied automatically with DC promotion - When you promote the first Windows Server 2025 DC, it extends the schema automatically if you have Schema Admin rights. This is forest-wide and irreversible. The schema version for Windows Server 2025 is 89 (check with Get-ADObject (Get-ADRootDSE).schemaNamingContext -Properties objectVersion).
• Functional levels must be consistent across environment - All domains in a forest must meet minimum domain functional level before raising forest level. Child domains can be higher than the forest level but not lower. Common gotcha: That forgotten test domain at Windows Server 2008 R2 blocking your forest functional level raise.
• Fabrikam upgrades existing forest to WS2025 functional level for security features - Fabrikam runs Windows Server 2019 everywhere with 2016 functional level. They upgrade all 12 DCs to Windows Server 2025 over a weekend, then raise domain functional level Monday morning, forest level after verification. This unlocks Protected Users group, Authentication Policy Silos, and cloud Kerberos trust. Timeline: 1 month planning, 1 weekend execution.
AZ-801 EXAM TIP: Functional level questions are exam favorites. Remember the progression: 2008 R2 → 2012 → 2012 R2 → 2016 → 2019 has no functional level → 2025. The exam asks "What's the MINIMUM functional level for feature X?" Also know the PowerShell: Set-ADDomainMode and Set-ADForestMode. If the question mentions rollback after raising functional level, the answer is "restore forest from backup" - there's no other way.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Let's wrap up with key resources and exam preparation points for Active Directory migration to Windows Server 2025.
The shortened URL go.techtrainertim.com/blah should point to:
- ADMT 3.2 Migration Guide and download
- Windows Server 2025 AD DS functional level features documentation
- Forest and Domain Functional Levels reference
- PowerShell cmdlets for AD migration
- Step-by-step forest restructure walkthrough
Remember the decision tree for migration methods:
- Simple environment with good backups? In-place upgrade
- Need rollback capability? Side-by-side migration
- Consolidating domains or forests? Forest restructure with ADMT
- Too much legacy baggage? New forest migration
For the AZ-801 exam, focus heavily on:
- ADMT prerequisites and limitations
- Functional level requirements for specific features
- Trust types and authentication across forests
- Order of operations for migration tasks
- PowerShell cmdlets for assessment and migration
Know these key facts cold:
- SIDHistory allows access for 30 days in Windows Server 2025 (tombstone lifetime)
- PES requires DC reboot and encrypts passwords with 128-bit encryption
- Forest functional level raise is irreversible except by forest recovery
- Windows Server 2025 schema version is 89
- ADMT 3.2 supports Windows Server 2008 and higher as source</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01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pic>
        <p:nvPicPr>
          <p:cNvPr id="2" name="Picture 1" descr="Shape&#10;&#10;Description automatically generated with medium confidence">
            <a:extLst>
              <a:ext uri="{FF2B5EF4-FFF2-40B4-BE49-F238E27FC236}">
                <a16:creationId xmlns:a16="http://schemas.microsoft.com/office/drawing/2014/main" id="{9F21EB85-4E6B-81AF-E3DE-25146E89F7C5}"/>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4" name="Picture 3" descr="A blue and white background&#10;&#10;Description automatically generated">
            <a:extLst>
              <a:ext uri="{FF2B5EF4-FFF2-40B4-BE49-F238E27FC236}">
                <a16:creationId xmlns:a16="http://schemas.microsoft.com/office/drawing/2014/main" id="{37032E1F-36A3-E746-345C-BA05CE612103}"/>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F5657EAA-C43A-E155-4654-56E83B180ABB}"/>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Tree>
    <p:extLst>
      <p:ext uri="{BB962C8B-B14F-4D97-AF65-F5344CB8AC3E}">
        <p14:creationId xmlns:p14="http://schemas.microsoft.com/office/powerpoint/2010/main" val="264481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02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pic>
        <p:nvPicPr>
          <p:cNvPr id="2" name="Picture 1" descr="Course Intro slide for slide-based headshot (when recording on-camera is not an option)">
            <a:extLst>
              <a:ext uri="{FF2B5EF4-FFF2-40B4-BE49-F238E27FC236}">
                <a16:creationId xmlns:a16="http://schemas.microsoft.com/office/drawing/2014/main" id="{08182D27-E2F5-2883-AF50-ABB7E42A41DB}"/>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385385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03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pic>
        <p:nvPicPr>
          <p:cNvPr id="6" name="Picture 5" descr="A white background with blue border&#10;&#10;Description automatically generated">
            <a:extLst>
              <a:ext uri="{FF2B5EF4-FFF2-40B4-BE49-F238E27FC236}">
                <a16:creationId xmlns:a16="http://schemas.microsoft.com/office/drawing/2014/main" id="{69F2EE42-E762-6F5F-CC37-7233E5D11727}"/>
              </a:ext>
            </a:extLst>
          </p:cNvPr>
          <p:cNvPicPr>
            <a:picLocks noChangeAspect="1"/>
          </p:cNvPicPr>
          <p:nvPr userDrawn="1"/>
        </p:nvPicPr>
        <p:blipFill>
          <a:blip r:embed="rId2"/>
          <a:stretch>
            <a:fillRect/>
          </a:stretch>
        </p:blipFill>
        <p:spPr>
          <a:xfrm>
            <a:off x="1409" y="36599"/>
            <a:ext cx="9144000" cy="5143500"/>
          </a:xfrm>
          <a:prstGeom prst="rect">
            <a:avLst/>
          </a:prstGeom>
        </p:spPr>
      </p:pic>
    </p:spTree>
    <p:extLst>
      <p:ext uri="{BB962C8B-B14F-4D97-AF65-F5344CB8AC3E}">
        <p14:creationId xmlns:p14="http://schemas.microsoft.com/office/powerpoint/2010/main" val="94848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04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object with a black border&#10;&#10;Description automatically generated with medium confidence">
            <a:extLst>
              <a:ext uri="{FF2B5EF4-FFF2-40B4-BE49-F238E27FC236}">
                <a16:creationId xmlns:a16="http://schemas.microsoft.com/office/drawing/2014/main" id="{1E03FF75-F906-DFC4-F2DB-E6A0D0C643B9}"/>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044878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05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rectangular object with a grey background&#10;&#10;Description automatically generated">
            <a:extLst>
              <a:ext uri="{FF2B5EF4-FFF2-40B4-BE49-F238E27FC236}">
                <a16:creationId xmlns:a16="http://schemas.microsoft.com/office/drawing/2014/main" id="{5E576AAE-EDF3-8574-4732-C4A9E1587DC0}"/>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463076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06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and blue logo&#10;&#10;Description automatically generated with medium confidence">
            <a:extLst>
              <a:ext uri="{FF2B5EF4-FFF2-40B4-BE49-F238E27FC236}">
                <a16:creationId xmlns:a16="http://schemas.microsoft.com/office/drawing/2014/main" id="{F92DCD30-BA28-F0D3-0128-BF69D7B726C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04207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07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6C88AC8A-674A-76E5-9602-A90DC8B808F4}"/>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1728566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08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56BBD1A7-D040-8AA9-D945-8E9453D4DABF}"/>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3579316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09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a:extLst>
              <a:ext uri="{FF2B5EF4-FFF2-40B4-BE49-F238E27FC236}">
                <a16:creationId xmlns:a16="http://schemas.microsoft.com/office/drawing/2014/main" id="{206A0AD5-CB3F-8169-AF25-456262A7BAD3}"/>
              </a:ext>
            </a:extLst>
          </p:cNvPr>
          <p:cNvPicPr>
            <a:picLocks noChangeAspect="1"/>
          </p:cNvPicPr>
          <p:nvPr userDrawn="1"/>
        </p:nvPicPr>
        <p:blipFill>
          <a:blip r:embed="rId2"/>
          <a:srcRect/>
          <a:stretch/>
        </p:blipFill>
        <p:spPr>
          <a:xfrm>
            <a:off x="0" y="9336"/>
            <a:ext cx="9144000" cy="5143500"/>
          </a:xfrm>
          <a:prstGeom prst="rect">
            <a:avLst/>
          </a:prstGeom>
        </p:spPr>
      </p:pic>
    </p:spTree>
    <p:extLst>
      <p:ext uri="{BB962C8B-B14F-4D97-AF65-F5344CB8AC3E}">
        <p14:creationId xmlns:p14="http://schemas.microsoft.com/office/powerpoint/2010/main" val="1820708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spTree>
    <p:extLst>
      <p:ext uri="{BB962C8B-B14F-4D97-AF65-F5344CB8AC3E}">
        <p14:creationId xmlns:p14="http://schemas.microsoft.com/office/powerpoint/2010/main" val="3128257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spTree>
    <p:extLst>
      <p:ext uri="{BB962C8B-B14F-4D97-AF65-F5344CB8AC3E}">
        <p14:creationId xmlns:p14="http://schemas.microsoft.com/office/powerpoint/2010/main" val="3853228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Tree>
    <p:extLst>
      <p:ext uri="{BB962C8B-B14F-4D97-AF65-F5344CB8AC3E}">
        <p14:creationId xmlns:p14="http://schemas.microsoft.com/office/powerpoint/2010/main" val="4578789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61570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65376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20485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24892205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7340113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userDrawn="1"/>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03666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alphaModFix amt="0"/>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28B0A6C-EF38-9441-ADBF-8FE45FA6C46E}" type="datetimeFigureOut">
              <a:rPr lang="en-US" smtClean="0"/>
              <a:t>Fri, 11/7/2025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6D032D76-6BE4-154B-A130-37D069E42354}" type="slidenum">
              <a:rPr lang="en-US" smtClean="0"/>
              <a:t>‹#›</a:t>
            </a:fld>
            <a:endParaRPr lang="en-US"/>
          </a:p>
        </p:txBody>
      </p:sp>
      <p:sp>
        <p:nvSpPr>
          <p:cNvPr id="7" name="Title 1"/>
          <p:cNvSpPr txBox="1">
            <a:spLocks/>
          </p:cNvSpPr>
          <p:nvPr/>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
        <p:nvSpPr>
          <p:cNvPr id="2" name="Title 1">
            <a:extLst>
              <a:ext uri="{FF2B5EF4-FFF2-40B4-BE49-F238E27FC236}">
                <a16:creationId xmlns:a16="http://schemas.microsoft.com/office/drawing/2014/main" id="{93EF7376-91BF-E078-2A66-21FFC1EC9B9D}"/>
              </a:ext>
            </a:extLst>
          </p:cNvPr>
          <p:cNvSpPr txBox="1">
            <a:spLocks/>
          </p:cNvSpPr>
          <p:nvPr userDrawn="1"/>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Tree>
    <p:extLst>
      <p:ext uri="{BB962C8B-B14F-4D97-AF65-F5344CB8AC3E}">
        <p14:creationId xmlns:p14="http://schemas.microsoft.com/office/powerpoint/2010/main" val="279878657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649" r:id="rId10"/>
    <p:sldLayoutId id="2147483659" r:id="rId11"/>
    <p:sldLayoutId id="2147483658" r:id="rId12"/>
    <p:sldLayoutId id="2147483664" r:id="rId13"/>
    <p:sldLayoutId id="2147483662" r:id="rId14"/>
    <p:sldLayoutId id="2147483665" r:id="rId15"/>
    <p:sldLayoutId id="2147483660" r:id="rId16"/>
    <p:sldLayoutId id="2147483661" r:id="rId17"/>
    <p:sldLayoutId id="2147483663" r:id="rId18"/>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B06A7D5-89E7-EAD9-D088-2A2125602967}"/>
              </a:ext>
            </a:extLst>
          </p:cNvPr>
          <p:cNvPicPr>
            <a:picLocks noChangeAspect="1"/>
          </p:cNvPicPr>
          <p:nvPr/>
        </p:nvPicPr>
        <p:blipFill>
          <a:blip r:embed="rId2"/>
          <a:stretch>
            <a:fillRect/>
          </a:stretch>
        </p:blipFill>
        <p:spPr>
          <a:xfrm>
            <a:off x="1709962" y="265417"/>
            <a:ext cx="3673828" cy="838095"/>
          </a:xfrm>
          <a:prstGeom prst="rect">
            <a:avLst/>
          </a:prstGeom>
        </p:spPr>
      </p:pic>
      <p:sp>
        <p:nvSpPr>
          <p:cNvPr id="7" name="Subtitle 6">
            <a:extLst>
              <a:ext uri="{FF2B5EF4-FFF2-40B4-BE49-F238E27FC236}">
                <a16:creationId xmlns:a16="http://schemas.microsoft.com/office/drawing/2014/main" id="{5E025FF1-FA05-58E9-B110-E456E82B45AC}"/>
              </a:ext>
            </a:extLst>
          </p:cNvPr>
          <p:cNvSpPr>
            <a:spLocks noGrp="1"/>
          </p:cNvSpPr>
          <p:nvPr>
            <p:ph type="subTitle" idx="1"/>
          </p:nvPr>
        </p:nvSpPr>
        <p:spPr>
          <a:xfrm>
            <a:off x="1652594" y="652894"/>
            <a:ext cx="6933141" cy="674899"/>
          </a:xfrm>
        </p:spPr>
        <p:txBody>
          <a:bodyPr>
            <a:noAutofit/>
          </a:bodyPr>
          <a:lstStyle/>
          <a:p>
            <a:r>
              <a:rPr lang="en-US" sz="3600" b="1"/>
              <a:t>Exam AZ-801: Configuring Windows Server Hybrid Advanced Services, 2nd Ed </a:t>
            </a:r>
            <a:endParaRPr lang="en-US" sz="3600" b="1" dirty="0"/>
          </a:p>
        </p:txBody>
      </p:sp>
      <p:sp>
        <p:nvSpPr>
          <p:cNvPr id="9" name="Text Placeholder 8">
            <a:extLst>
              <a:ext uri="{FF2B5EF4-FFF2-40B4-BE49-F238E27FC236}">
                <a16:creationId xmlns:a16="http://schemas.microsoft.com/office/drawing/2014/main" id="{A656C324-4E4C-B0F4-6DC5-3C9DDA851E78}"/>
              </a:ext>
            </a:extLst>
          </p:cNvPr>
          <p:cNvSpPr>
            <a:spLocks noGrp="1"/>
          </p:cNvSpPr>
          <p:nvPr>
            <p:ph type="body" sz="quarter" idx="11"/>
          </p:nvPr>
        </p:nvSpPr>
        <p:spPr/>
        <p:txBody>
          <a:bodyPr/>
          <a:lstStyle/>
          <a:p>
            <a:r>
              <a:rPr lang="en-US" dirty="0"/>
              <a:t>Tim Warner</a:t>
            </a:r>
          </a:p>
        </p:txBody>
      </p:sp>
      <p:sp>
        <p:nvSpPr>
          <p:cNvPr id="10" name="Text Placeholder 9">
            <a:extLst>
              <a:ext uri="{FF2B5EF4-FFF2-40B4-BE49-F238E27FC236}">
                <a16:creationId xmlns:a16="http://schemas.microsoft.com/office/drawing/2014/main" id="{25C667F3-A6DD-AE8F-325F-B5B6FE741D98}"/>
              </a:ext>
            </a:extLst>
          </p:cNvPr>
          <p:cNvSpPr>
            <a:spLocks noGrp="1"/>
          </p:cNvSpPr>
          <p:nvPr>
            <p:ph type="body" sz="quarter" idx="12"/>
          </p:nvPr>
        </p:nvSpPr>
        <p:spPr>
          <a:xfrm>
            <a:off x="3462347" y="3648402"/>
            <a:ext cx="3023362" cy="584200"/>
          </a:xfrm>
        </p:spPr>
        <p:txBody>
          <a:bodyPr/>
          <a:lstStyle/>
          <a:p>
            <a:r>
              <a:rPr lang="en-US" dirty="0"/>
              <a:t>Microsoft Certified Trainer and Microsoft MVP</a:t>
            </a:r>
          </a:p>
        </p:txBody>
      </p:sp>
      <p:pic>
        <p:nvPicPr>
          <p:cNvPr id="5" name="Picture Placeholder 4" descr="A person wearing glasses and a black jacket&#10;&#10;AI-generated content may be incorrect.">
            <a:extLst>
              <a:ext uri="{FF2B5EF4-FFF2-40B4-BE49-F238E27FC236}">
                <a16:creationId xmlns:a16="http://schemas.microsoft.com/office/drawing/2014/main" id="{272C23CC-6DAA-D474-5879-59974AA40D0F}"/>
              </a:ext>
            </a:extLst>
          </p:cNvPr>
          <p:cNvPicPr>
            <a:picLocks noGrp="1" noChangeAspect="1"/>
          </p:cNvPicPr>
          <p:nvPr>
            <p:ph type="pic" sz="quarter" idx="10"/>
          </p:nvPr>
        </p:nvPicPr>
        <p:blipFill>
          <a:blip r:embed="rId3"/>
          <a:srcRect l="2378" r="2378"/>
          <a:stretch>
            <a:fillRect/>
          </a:stretch>
        </p:blipFill>
        <p:spPr>
          <a:xfrm>
            <a:off x="2294356" y="3064110"/>
            <a:ext cx="1112885" cy="1168586"/>
          </a:xfrm>
        </p:spPr>
      </p:pic>
    </p:spTree>
    <p:extLst>
      <p:ext uri="{BB962C8B-B14F-4D97-AF65-F5344CB8AC3E}">
        <p14:creationId xmlns:p14="http://schemas.microsoft.com/office/powerpoint/2010/main" val="3662525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white cloud with icons&#10;&#10;AI-generated content may be incorrect.">
            <a:extLst>
              <a:ext uri="{FF2B5EF4-FFF2-40B4-BE49-F238E27FC236}">
                <a16:creationId xmlns:a16="http://schemas.microsoft.com/office/drawing/2014/main" id="{1FA7CD43-BA80-82DD-E644-E85660A8EAFB}"/>
              </a:ext>
            </a:extLst>
          </p:cNvPr>
          <p:cNvPicPr>
            <a:picLocks noChangeAspect="1"/>
          </p:cNvPicPr>
          <p:nvPr/>
        </p:nvPicPr>
        <p:blipFill>
          <a:blip r:embed="rId3"/>
          <a:stretch>
            <a:fillRect/>
          </a:stretch>
        </p:blipFill>
        <p:spPr>
          <a:xfrm>
            <a:off x="604995" y="741009"/>
            <a:ext cx="3617287" cy="3156082"/>
          </a:xfrm>
          <a:prstGeom prst="rect">
            <a:avLst/>
          </a:prstGeom>
          <a:noFill/>
          <a:effectLst>
            <a:outerShdw blurRad="50800" dist="38100" dir="5400000" algn="t" rotWithShape="0">
              <a:prstClr val="black">
                <a:alpha val="40000"/>
              </a:prstClr>
            </a:outerShdw>
          </a:effectLst>
        </p:spPr>
      </p:pic>
      <p:sp>
        <p:nvSpPr>
          <p:cNvPr id="2" name="Text Placeholder 1">
            <a:extLst>
              <a:ext uri="{FF2B5EF4-FFF2-40B4-BE49-F238E27FC236}">
                <a16:creationId xmlns:a16="http://schemas.microsoft.com/office/drawing/2014/main" id="{2E785BEF-5805-305A-23FF-1BB88D477F88}"/>
              </a:ext>
            </a:extLst>
          </p:cNvPr>
          <p:cNvSpPr>
            <a:spLocks noGrp="1"/>
          </p:cNvSpPr>
          <p:nvPr>
            <p:ph type="body" sz="quarter" idx="11"/>
          </p:nvPr>
        </p:nvSpPr>
        <p:spPr>
          <a:xfrm>
            <a:off x="4620635" y="382901"/>
            <a:ext cx="3966571" cy="863804"/>
          </a:xfrm>
        </p:spPr>
        <p:txBody>
          <a:bodyPr>
            <a:normAutofit/>
          </a:bodyPr>
          <a:lstStyle/>
          <a:p>
            <a:r>
              <a:rPr lang="en-US" dirty="0"/>
              <a:t>Lesson 21: Migrate Active Directory to Windows Server 2025</a:t>
            </a:r>
          </a:p>
        </p:txBody>
      </p:sp>
      <p:sp>
        <p:nvSpPr>
          <p:cNvPr id="3" name="Text Placeholder 2">
            <a:extLst>
              <a:ext uri="{FF2B5EF4-FFF2-40B4-BE49-F238E27FC236}">
                <a16:creationId xmlns:a16="http://schemas.microsoft.com/office/drawing/2014/main" id="{E3CDC3F4-DF86-6837-4352-BE6EBD430460}"/>
              </a:ext>
            </a:extLst>
          </p:cNvPr>
          <p:cNvSpPr>
            <a:spLocks noGrp="1"/>
          </p:cNvSpPr>
          <p:nvPr>
            <p:ph type="body" sz="quarter" idx="12"/>
          </p:nvPr>
        </p:nvSpPr>
        <p:spPr>
          <a:xfrm>
            <a:off x="5290686" y="1246704"/>
            <a:ext cx="3516430" cy="2979037"/>
          </a:xfrm>
        </p:spPr>
        <p:txBody>
          <a:bodyPr>
            <a:noAutofit/>
          </a:bodyPr>
          <a:lstStyle/>
          <a:p>
            <a:pPr>
              <a:spcBef>
                <a:spcPts val="200"/>
              </a:spcBef>
              <a:spcAft>
                <a:spcPts val="400"/>
              </a:spcAft>
            </a:pPr>
            <a:r>
              <a:rPr lang="en-US" sz="1400" dirty="0"/>
              <a:t>21.1. Choose an appropriate migration method </a:t>
            </a:r>
          </a:p>
          <a:p>
            <a:pPr>
              <a:spcBef>
                <a:spcPts val="200"/>
              </a:spcBef>
              <a:spcAft>
                <a:spcPts val="400"/>
              </a:spcAft>
            </a:pPr>
            <a:r>
              <a:rPr lang="en-US" sz="1400" dirty="0"/>
              <a:t>21.2. Implement a forest restructure </a:t>
            </a:r>
          </a:p>
          <a:p>
            <a:pPr>
              <a:spcBef>
                <a:spcPts val="200"/>
              </a:spcBef>
              <a:spcAft>
                <a:spcPts val="400"/>
              </a:spcAft>
            </a:pPr>
            <a:r>
              <a:rPr lang="en-US" sz="1400" dirty="0"/>
              <a:t>21.3. Migrate AD DS objects, including users, groups and Group Policies using AD Migration Tool </a:t>
            </a:r>
          </a:p>
          <a:p>
            <a:pPr>
              <a:spcBef>
                <a:spcPts val="200"/>
              </a:spcBef>
              <a:spcAft>
                <a:spcPts val="400"/>
              </a:spcAft>
            </a:pPr>
            <a:r>
              <a:rPr lang="en-US" sz="1400" dirty="0"/>
              <a:t>21.4. Migrate to a new Active Directory forest </a:t>
            </a:r>
          </a:p>
          <a:p>
            <a:pPr>
              <a:spcBef>
                <a:spcPts val="200"/>
              </a:spcBef>
              <a:spcAft>
                <a:spcPts val="400"/>
              </a:spcAft>
            </a:pPr>
            <a:r>
              <a:rPr lang="en-US" sz="1400" dirty="0"/>
              <a:t>21.5. Upgrade an existing forest, including setting functional levels </a:t>
            </a:r>
          </a:p>
        </p:txBody>
      </p:sp>
    </p:spTree>
    <p:extLst>
      <p:ext uri="{BB962C8B-B14F-4D97-AF65-F5344CB8AC3E}">
        <p14:creationId xmlns:p14="http://schemas.microsoft.com/office/powerpoint/2010/main" val="2539485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21.1 Choose an appropriate migration method </a:t>
            </a:r>
          </a:p>
        </p:txBody>
      </p:sp>
    </p:spTree>
    <p:extLst>
      <p:ext uri="{BB962C8B-B14F-4D97-AF65-F5344CB8AC3E}">
        <p14:creationId xmlns:p14="http://schemas.microsoft.com/office/powerpoint/2010/main" val="486668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106818" cy="463628"/>
          </a:xfrm>
        </p:spPr>
        <p:txBody>
          <a:bodyPr/>
          <a:lstStyle/>
          <a:p>
            <a:r>
              <a:rPr lang="en-US" sz="2400"/>
              <a:t>Modernize identity infrastructure with AD migration</a:t>
            </a:r>
            <a:endParaRPr lang="en-US" sz="2400"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Active Directory Domain Services (AD DS) is the backbone of Windows identity</a:t>
            </a:r>
          </a:p>
          <a:p>
            <a:r>
              <a:rPr lang="en-US" sz="1800" dirty="0"/>
              <a:t>Migration ensures compatibility with Windows Server 2025 features</a:t>
            </a:r>
          </a:p>
          <a:p>
            <a:r>
              <a:rPr lang="en-US" sz="1800" dirty="0"/>
              <a:t>Options: forest restructure, object migration, or in-place upgrade</a:t>
            </a:r>
          </a:p>
          <a:p>
            <a:r>
              <a:rPr lang="en-US" sz="1800" dirty="0"/>
              <a:t>Requires planning for schema updates, trusts, and downtime windows</a:t>
            </a:r>
          </a:p>
          <a:p>
            <a:r>
              <a:rPr lang="en-US" sz="1800" dirty="0"/>
              <a:t>Contoso refreshes AD to modernize authentication and strengthen security</a:t>
            </a:r>
          </a:p>
        </p:txBody>
      </p:sp>
    </p:spTree>
    <p:extLst>
      <p:ext uri="{BB962C8B-B14F-4D97-AF65-F5344CB8AC3E}">
        <p14:creationId xmlns:p14="http://schemas.microsoft.com/office/powerpoint/2010/main" val="2324205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232548" cy="463628"/>
          </a:xfrm>
        </p:spPr>
        <p:txBody>
          <a:bodyPr/>
          <a:lstStyle/>
          <a:p>
            <a:r>
              <a:rPr lang="en-US"/>
              <a:t>Select the right path for your AD modernization</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In-place upgrade: fast, but riskier if issues arise</a:t>
            </a:r>
          </a:p>
          <a:p>
            <a:r>
              <a:rPr lang="en-US" sz="1800" dirty="0"/>
              <a:t>Side-by-side migration: more control, supports testing and rollback</a:t>
            </a:r>
          </a:p>
          <a:p>
            <a:r>
              <a:rPr lang="en-US" sz="1800" dirty="0"/>
              <a:t>Forest restructure: used for mergers or domain consolidation</a:t>
            </a:r>
          </a:p>
          <a:p>
            <a:r>
              <a:rPr lang="en-US" sz="1800" dirty="0"/>
              <a:t>Dependency mapping critical before selecting approach</a:t>
            </a:r>
          </a:p>
          <a:p>
            <a:r>
              <a:rPr lang="en-US" sz="1800" dirty="0"/>
              <a:t>Adventure Works selects side-by-side to merge regional forests</a:t>
            </a:r>
          </a:p>
        </p:txBody>
      </p:sp>
    </p:spTree>
    <p:extLst>
      <p:ext uri="{BB962C8B-B14F-4D97-AF65-F5344CB8AC3E}">
        <p14:creationId xmlns:p14="http://schemas.microsoft.com/office/powerpoint/2010/main" val="226949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21.2 Implement a forest restructure </a:t>
            </a:r>
          </a:p>
        </p:txBody>
      </p:sp>
    </p:spTree>
    <p:extLst>
      <p:ext uri="{BB962C8B-B14F-4D97-AF65-F5344CB8AC3E}">
        <p14:creationId xmlns:p14="http://schemas.microsoft.com/office/powerpoint/2010/main" val="1829040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247788" cy="463628"/>
          </a:xfrm>
        </p:spPr>
        <p:txBody>
          <a:bodyPr/>
          <a:lstStyle/>
          <a:p>
            <a:r>
              <a:rPr lang="en-US" sz="2400"/>
              <a:t>Reorganize forests to align with business needs</a:t>
            </a:r>
            <a:endParaRPr lang="en-US" sz="2400"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Consolidates domains/forests into simplified hierarchy</a:t>
            </a:r>
          </a:p>
          <a:p>
            <a:r>
              <a:rPr lang="en-US" sz="1800" dirty="0"/>
              <a:t>Requires planning for trusts, DNS, and </a:t>
            </a:r>
            <a:r>
              <a:rPr lang="en-US" sz="1800" dirty="0" err="1"/>
              <a:t>SIDHistory</a:t>
            </a:r>
            <a:endParaRPr lang="en-US" sz="1800" dirty="0"/>
          </a:p>
          <a:p>
            <a:r>
              <a:rPr lang="en-US" sz="1800" dirty="0"/>
              <a:t>Migrates user, group, and computer accounts with minimal disruption</a:t>
            </a:r>
          </a:p>
          <a:p>
            <a:r>
              <a:rPr lang="en-US" sz="1800" dirty="0"/>
              <a:t>Tools include Active Directory Migration Tool (ADMT)</a:t>
            </a:r>
          </a:p>
          <a:p>
            <a:r>
              <a:rPr lang="en-US" sz="1800" dirty="0" err="1"/>
              <a:t>Fabrikam</a:t>
            </a:r>
            <a:r>
              <a:rPr lang="en-US" sz="1800" dirty="0"/>
              <a:t> restructures multiple legacy forests into one global forest</a:t>
            </a:r>
          </a:p>
        </p:txBody>
      </p:sp>
    </p:spTree>
    <p:extLst>
      <p:ext uri="{BB962C8B-B14F-4D97-AF65-F5344CB8AC3E}">
        <p14:creationId xmlns:p14="http://schemas.microsoft.com/office/powerpoint/2010/main" val="3281637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21.3 Migrate AD DS objects, including users, groups and Group Policies using AD Migration Tool </a:t>
            </a:r>
          </a:p>
        </p:txBody>
      </p:sp>
    </p:spTree>
    <p:extLst>
      <p:ext uri="{BB962C8B-B14F-4D97-AF65-F5344CB8AC3E}">
        <p14:creationId xmlns:p14="http://schemas.microsoft.com/office/powerpoint/2010/main" val="947907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160158" cy="463628"/>
          </a:xfrm>
        </p:spPr>
        <p:txBody>
          <a:bodyPr/>
          <a:lstStyle/>
          <a:p>
            <a:r>
              <a:rPr lang="en-US"/>
              <a:t>Move AD objects safely with AD Migration Tool</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ADMT migrates users, groups, and computers across forests</a:t>
            </a:r>
          </a:p>
          <a:p>
            <a:r>
              <a:rPr lang="en-US" sz="1800" dirty="0" err="1"/>
              <a:t>SIDHistory</a:t>
            </a:r>
            <a:r>
              <a:rPr lang="en-US" sz="1800" dirty="0"/>
              <a:t> preserves access to existing resources</a:t>
            </a:r>
          </a:p>
          <a:p>
            <a:r>
              <a:rPr lang="en-US" sz="1800" dirty="0"/>
              <a:t>Password Export Server migrates credentials securely</a:t>
            </a:r>
          </a:p>
          <a:p>
            <a:r>
              <a:rPr lang="en-US" sz="1800" dirty="0"/>
              <a:t>Supports testing migrations with pilot groups</a:t>
            </a:r>
          </a:p>
          <a:p>
            <a:r>
              <a:rPr lang="en-US" sz="1800" dirty="0"/>
              <a:t>Tailwind Traders migrates accounts from 2012 R2 to 2025 domain</a:t>
            </a:r>
          </a:p>
        </p:txBody>
      </p:sp>
    </p:spTree>
    <p:extLst>
      <p:ext uri="{BB962C8B-B14F-4D97-AF65-F5344CB8AC3E}">
        <p14:creationId xmlns:p14="http://schemas.microsoft.com/office/powerpoint/2010/main" val="3319183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21.4 Migrate to a new Active Directory forest </a:t>
            </a:r>
          </a:p>
        </p:txBody>
      </p:sp>
    </p:spTree>
    <p:extLst>
      <p:ext uri="{BB962C8B-B14F-4D97-AF65-F5344CB8AC3E}">
        <p14:creationId xmlns:p14="http://schemas.microsoft.com/office/powerpoint/2010/main" val="591404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297318" cy="463628"/>
          </a:xfrm>
        </p:spPr>
        <p:txBody>
          <a:bodyPr/>
          <a:lstStyle/>
          <a:p>
            <a:r>
              <a:rPr lang="en-US" sz="2400"/>
              <a:t>Stand up a clean-slate forest and migrate workloads</a:t>
            </a:r>
            <a:endParaRPr lang="en-US" sz="2400"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Create new 2025 forest and establish trusts</a:t>
            </a:r>
          </a:p>
          <a:p>
            <a:r>
              <a:rPr lang="en-US" sz="1800" dirty="0"/>
              <a:t>Migrate accounts, policies, and resources step by step</a:t>
            </a:r>
          </a:p>
          <a:p>
            <a:r>
              <a:rPr lang="en-US" sz="1800" dirty="0"/>
              <a:t>Clean forest avoids legacy configuration baggage</a:t>
            </a:r>
          </a:p>
          <a:p>
            <a:r>
              <a:rPr lang="en-US" sz="1800" dirty="0"/>
              <a:t>Requires careful coexistence planning during migration</a:t>
            </a:r>
          </a:p>
          <a:p>
            <a:r>
              <a:rPr lang="en-US" sz="1800" dirty="0"/>
              <a:t>Contoso deploys a new forest to replace heavily customized legacy AD</a:t>
            </a:r>
          </a:p>
        </p:txBody>
      </p:sp>
    </p:spTree>
    <p:extLst>
      <p:ext uri="{BB962C8B-B14F-4D97-AF65-F5344CB8AC3E}">
        <p14:creationId xmlns:p14="http://schemas.microsoft.com/office/powerpoint/2010/main" val="273364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21.5 Upgrade an existing forest, including setting functional levels </a:t>
            </a:r>
          </a:p>
        </p:txBody>
      </p:sp>
    </p:spTree>
    <p:extLst>
      <p:ext uri="{BB962C8B-B14F-4D97-AF65-F5344CB8AC3E}">
        <p14:creationId xmlns:p14="http://schemas.microsoft.com/office/powerpoint/2010/main" val="6670377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266838" cy="463628"/>
          </a:xfrm>
        </p:spPr>
        <p:txBody>
          <a:bodyPr/>
          <a:lstStyle/>
          <a:p>
            <a:r>
              <a:rPr lang="en-US" sz="2400"/>
              <a:t>Upgrade AD forest in place with functional level changes</a:t>
            </a:r>
            <a:endParaRPr lang="en-US" sz="2400"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Raise forest and domain functional levels to unlock new features</a:t>
            </a:r>
          </a:p>
          <a:p>
            <a:r>
              <a:rPr lang="en-US" sz="1800" dirty="0"/>
              <a:t>Requires upgrading all domain controllers first</a:t>
            </a:r>
          </a:p>
          <a:p>
            <a:r>
              <a:rPr lang="en-US" sz="1800" dirty="0"/>
              <a:t>Schema extensions applied automatically with DC promotion</a:t>
            </a:r>
          </a:p>
          <a:p>
            <a:r>
              <a:rPr lang="en-US" sz="1800" dirty="0"/>
              <a:t>Functional levels must be consistent across environment</a:t>
            </a:r>
          </a:p>
          <a:p>
            <a:r>
              <a:rPr lang="en-US" sz="1800" dirty="0" err="1"/>
              <a:t>Fabrikam</a:t>
            </a:r>
            <a:r>
              <a:rPr lang="en-US" sz="1800" dirty="0"/>
              <a:t> upgrades existing forest to WS2025 functional level for security features</a:t>
            </a:r>
          </a:p>
        </p:txBody>
      </p:sp>
    </p:spTree>
    <p:extLst>
      <p:ext uri="{BB962C8B-B14F-4D97-AF65-F5344CB8AC3E}">
        <p14:creationId xmlns:p14="http://schemas.microsoft.com/office/powerpoint/2010/main" val="4092314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9E237-BA0D-A6D7-ABE0-D61274209EBE}"/>
              </a:ext>
            </a:extLst>
          </p:cNvPr>
          <p:cNvSpPr>
            <a:spLocks noGrp="1"/>
          </p:cNvSpPr>
          <p:nvPr>
            <p:ph type="title"/>
          </p:nvPr>
        </p:nvSpPr>
        <p:spPr/>
        <p:txBody>
          <a:bodyPr/>
          <a:lstStyle/>
          <a:p>
            <a:r>
              <a:rPr lang="en-US" dirty="0"/>
              <a:t>Diagram title in sentence case</a:t>
            </a:r>
          </a:p>
        </p:txBody>
      </p:sp>
      <p:sp>
        <p:nvSpPr>
          <p:cNvPr id="8" name="Rectangle: Rounded Corners 7">
            <a:extLst>
              <a:ext uri="{FF2B5EF4-FFF2-40B4-BE49-F238E27FC236}">
                <a16:creationId xmlns:a16="http://schemas.microsoft.com/office/drawing/2014/main" id="{1155EB2F-7448-A2AA-7CA9-989CB37A3F86}"/>
              </a:ext>
            </a:extLst>
          </p:cNvPr>
          <p:cNvSpPr/>
          <p:nvPr/>
        </p:nvSpPr>
        <p:spPr>
          <a:xfrm>
            <a:off x="2673037" y="4599417"/>
            <a:ext cx="3797925" cy="46362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latin typeface="Segoe Pro Display" panose="020B0502040504020203" pitchFamily="34" charset="0"/>
                <a:ea typeface="JetBrains Mono" panose="02000009000000000000" pitchFamily="49" charset="0"/>
                <a:cs typeface="Poppins Light" panose="00000400000000000000" pitchFamily="2" charset="0"/>
              </a:rPr>
              <a:t>go.techtrainertim.com/blah</a:t>
            </a:r>
          </a:p>
        </p:txBody>
      </p:sp>
    </p:spTree>
    <p:extLst>
      <p:ext uri="{BB962C8B-B14F-4D97-AF65-F5344CB8AC3E}">
        <p14:creationId xmlns:p14="http://schemas.microsoft.com/office/powerpoint/2010/main" val="4080705565"/>
      </p:ext>
    </p:extLst>
  </p:cSld>
  <p:clrMapOvr>
    <a:masterClrMapping/>
  </p:clrMapOvr>
</p:sld>
</file>

<file path=ppt/theme/theme1.xml><?xml version="1.0" encoding="utf-8"?>
<a:theme xmlns:a="http://schemas.openxmlformats.org/drawingml/2006/main" name="Standard_LiveLessons_2017">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defRPr sz="1200" b="0" baseline="0" dirty="0" smtClean="0">
            <a:solidFill>
              <a:srgbClr val="454D4E"/>
            </a:solidFill>
            <a:latin typeface="Open Sans" panose="020B0606030504020204" pitchFamily="34" charset="0"/>
          </a:defRPr>
        </a:defPPr>
      </a:lstStyle>
    </a:txDef>
  </a:objectDefaults>
  <a:extraClrSchemeLst/>
  <a:extLst>
    <a:ext uri="{05A4C25C-085E-4340-85A3-A5531E510DB2}">
      <thm15:themeFamily xmlns:thm15="http://schemas.microsoft.com/office/thememl/2012/main" name="Standard_LiveLessons_2016.potm" id="{8C1633E9-E98A-446F-92F4-E3D84D4249FA}" vid="{A44C486B-6B48-42BE-B4AA-FE194AC140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501a101-02f8-4cb9-8ad4-ac4c2bb50a5e">
      <Terms xmlns="http://schemas.microsoft.com/office/infopath/2007/PartnerControls"/>
    </lcf76f155ced4ddcb4097134ff3c332f>
    <TaxCatchAll xmlns="53af226d-ba0a-4b77-ace2-7e16defb8490" xsi:nil="true"/>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EB942DAA29B6641B847DD25AB6364DF" ma:contentTypeVersion="20" ma:contentTypeDescription="Create a new document." ma:contentTypeScope="" ma:versionID="8418544ccbba6eabd8ad7f32b71cd208">
  <xsd:schema xmlns:xsd="http://www.w3.org/2001/XMLSchema" xmlns:xs="http://www.w3.org/2001/XMLSchema" xmlns:p="http://schemas.microsoft.com/office/2006/metadata/properties" xmlns:ns1="http://schemas.microsoft.com/sharepoint/v3" xmlns:ns2="1501a101-02f8-4cb9-8ad4-ac4c2bb50a5e" xmlns:ns3="53af226d-ba0a-4b77-ace2-7e16defb8490" targetNamespace="http://schemas.microsoft.com/office/2006/metadata/properties" ma:root="true" ma:fieldsID="263f9987bbc11137d77341febd189c27" ns1:_="" ns2:_="" ns3:_="">
    <xsd:import namespace="http://schemas.microsoft.com/sharepoint/v3"/>
    <xsd:import namespace="1501a101-02f8-4cb9-8ad4-ac4c2bb50a5e"/>
    <xsd:import namespace="53af226d-ba0a-4b77-ace2-7e16defb849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bjectDetectorVersions" minOccurs="0"/>
                <xsd:element ref="ns2:MediaServiceSearchPropertie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01a101-02f8-4cb9-8ad4-ac4c2bb50a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3af226d-ba0a-4b77-ace2-7e16defb849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f1b6984-261b-4571-b7f9-8a6d366cc3e2}" ma:internalName="TaxCatchAll" ma:showField="CatchAllData" ma:web="53af226d-ba0a-4b77-ace2-7e16defb8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7303C75-6DA1-4624-8E1F-10C605E57646}">
  <ds:schemaRefs>
    <ds:schemaRef ds:uri="http://schemas.openxmlformats.org/package/2006/metadata/core-properties"/>
    <ds:schemaRef ds:uri="http://purl.org/dc/elements/1.1/"/>
    <ds:schemaRef ds:uri="http://purl.org/dc/dcmitype/"/>
    <ds:schemaRef ds:uri="http://schemas.microsoft.com/office/2006/metadata/properties"/>
    <ds:schemaRef ds:uri="http://purl.org/dc/terms/"/>
    <ds:schemaRef ds:uri="http://schemas.microsoft.com/office/2006/documentManagement/types"/>
    <ds:schemaRef ds:uri="http://www.w3.org/XML/1998/namespace"/>
    <ds:schemaRef ds:uri="http://schemas.microsoft.com/office/infopath/2007/PartnerControls"/>
    <ds:schemaRef ds:uri="53af226d-ba0a-4b77-ace2-7e16defb8490"/>
    <ds:schemaRef ds:uri="1501a101-02f8-4cb9-8ad4-ac4c2bb50a5e"/>
    <ds:schemaRef ds:uri="http://schemas.microsoft.com/sharepoint/v3"/>
  </ds:schemaRefs>
</ds:datastoreItem>
</file>

<file path=customXml/itemProps2.xml><?xml version="1.0" encoding="utf-8"?>
<ds:datastoreItem xmlns:ds="http://schemas.openxmlformats.org/officeDocument/2006/customXml" ds:itemID="{FF5677F3-8FDC-4956-AB6C-63D54245DDBC}"/>
</file>

<file path=customXml/itemProps3.xml><?xml version="1.0" encoding="utf-8"?>
<ds:datastoreItem xmlns:ds="http://schemas.openxmlformats.org/officeDocument/2006/customXml" ds:itemID="{920C99BF-5DBB-4E5E-8232-1660DCDA7D83}">
  <ds:schemaRefs>
    <ds:schemaRef ds:uri="http://schemas.microsoft.com/sharepoint/v3/contenttype/forms"/>
  </ds:schemaRefs>
</ds:datastoreItem>
</file>

<file path=docMetadata/LabelInfo.xml><?xml version="1.0" encoding="utf-8"?>
<clbl:labelList xmlns:clbl="http://schemas.microsoft.com/office/2020/mipLabelMetadata">
  <clbl:label id="{8cc434d7-97d0-47d3-b5c5-14fe0e33e34b}" enabled="0" method="" siteId="{8cc434d7-97d0-47d3-b5c5-14fe0e33e34b}" removed="1"/>
</clbl:labelList>
</file>

<file path=docProps/app.xml><?xml version="1.0" encoding="utf-8"?>
<Properties xmlns="http://schemas.openxmlformats.org/officeDocument/2006/extended-properties" xmlns:vt="http://schemas.openxmlformats.org/officeDocument/2006/docPropsVTypes">
  <Template>Microsoft Press_PowerPoint Template (2023 Re-brand)</Template>
  <TotalTime>34537</TotalTime>
  <Words>3234</Words>
  <Application>Microsoft Office PowerPoint</Application>
  <PresentationFormat>On-screen Show (16:9)</PresentationFormat>
  <Paragraphs>61</Paragraphs>
  <Slides>14</Slides>
  <Notes>8</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Open Sans</vt:lpstr>
      <vt:lpstr>Segoe Pro Display</vt:lpstr>
      <vt:lpstr>Segoe UI</vt:lpstr>
      <vt:lpstr>Segoe UI Light</vt:lpstr>
      <vt:lpstr>Segoe UI Semilight</vt:lpstr>
      <vt:lpstr>Standard_LiveLessons_2017</vt:lpstr>
      <vt:lpstr>PowerPoint Presentation</vt:lpstr>
      <vt:lpstr>PowerPoint Presentation</vt:lpstr>
      <vt:lpstr>PowerPoint Presentation</vt:lpstr>
      <vt:lpstr>Modernize identity infrastructure with AD migration</vt:lpstr>
      <vt:lpstr>Select the right path for your AD modernization</vt:lpstr>
      <vt:lpstr>PowerPoint Presentation</vt:lpstr>
      <vt:lpstr>Reorganize forests to align with business needs</vt:lpstr>
      <vt:lpstr>PowerPoint Presentation</vt:lpstr>
      <vt:lpstr>Move AD objects safely with AD Migration Tool</vt:lpstr>
      <vt:lpstr>PowerPoint Presentation</vt:lpstr>
      <vt:lpstr>Stand up a clean-slate forest and migrate workloads</vt:lpstr>
      <vt:lpstr>PowerPoint Presentation</vt:lpstr>
      <vt:lpstr>Upgrade AD forest in place with functional level changes</vt:lpstr>
      <vt:lpstr>Diagram title in sentence case</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Julie Phifer</dc:creator>
  <cp:lastModifiedBy>Tim Warner</cp:lastModifiedBy>
  <cp:revision>104</cp:revision>
  <dcterms:created xsi:type="dcterms:W3CDTF">2015-09-28T19:52:00Z</dcterms:created>
  <dcterms:modified xsi:type="dcterms:W3CDTF">2025-11-07T20:13:46Z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0x0101009EB942DAA29B6641B847DD25AB6364DF</vt:lpwstr>
  </property>
  <property fmtid="{D5CDD505-2E9C-101B-9397-08002B2CF9AE}" pid="3" name="MediaServiceImageTags">
    <vt:lpwstr/>
  </property>
  <property fmtid="{D5CDD505-2E9C-101B-9397-08002B2CF9AE}" pid="4" name="MSIP_Label_d31dd64d-da6b-43d5-9ac5-8dec692131c3_Enabled">
    <vt:lpwstr>true</vt:lpwstr>
  </property>
  <property fmtid="{D5CDD505-2E9C-101B-9397-08002B2CF9AE}" pid="5" name="MSIP_Label_d31dd64d-da6b-43d5-9ac5-8dec692131c3_SetDate">
    <vt:lpwstr>2024-02-18T18:18:25Z</vt:lpwstr>
  </property>
  <property fmtid="{D5CDD505-2E9C-101B-9397-08002B2CF9AE}" pid="6" name="MSIP_Label_d31dd64d-da6b-43d5-9ac5-8dec692131c3_Method">
    <vt:lpwstr>Standard</vt:lpwstr>
  </property>
  <property fmtid="{D5CDD505-2E9C-101B-9397-08002B2CF9AE}" pid="7" name="MSIP_Label_d31dd64d-da6b-43d5-9ac5-8dec692131c3_Name">
    <vt:lpwstr>General</vt:lpwstr>
  </property>
  <property fmtid="{D5CDD505-2E9C-101B-9397-08002B2CF9AE}" pid="8" name="MSIP_Label_d31dd64d-da6b-43d5-9ac5-8dec692131c3_SiteId">
    <vt:lpwstr>db1766ec-5540-4cde-ad8d-b2b59fb2ed8e</vt:lpwstr>
  </property>
  <property fmtid="{D5CDD505-2E9C-101B-9397-08002B2CF9AE}" pid="9" name="MSIP_Label_d31dd64d-da6b-43d5-9ac5-8dec692131c3_ActionId">
    <vt:lpwstr>e519282f-68ee-4290-b67d-67e40ded71bd</vt:lpwstr>
  </property>
  <property fmtid="{D5CDD505-2E9C-101B-9397-08002B2CF9AE}" pid="10" name="MSIP_Label_d31dd64d-da6b-43d5-9ac5-8dec692131c3_ContentBits">
    <vt:lpwstr>0</vt:lpwstr>
  </property>
</Properties>
</file>