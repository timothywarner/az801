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17"/>
  </p:notesMasterIdLst>
  <p:sldIdLst>
    <p:sldId id="303" r:id="rId5"/>
    <p:sldId id="292" r:id="rId6"/>
    <p:sldId id="293" r:id="rId7"/>
    <p:sldId id="351" r:id="rId8"/>
    <p:sldId id="348" r:id="rId9"/>
    <p:sldId id="343" r:id="rId10"/>
    <p:sldId id="349" r:id="rId11"/>
    <p:sldId id="346" r:id="rId12"/>
    <p:sldId id="350" r:id="rId13"/>
    <p:sldId id="347" r:id="rId14"/>
    <p:sldId id="331" r:id="rId15"/>
    <p:sldId id="342" r:id="rId1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BCD2B7-8B84-46BE-B39A-09B75A00CD83}" v="29" dt="2025-08-23T14:26:52.519"/>
    <p1510:client id="{85AF35BE-6EB8-42E5-9A3F-BE629C90A631}" v="3" dt="2025-08-24T13:12:26.8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7" autoAdjust="0"/>
    <p:restoredTop sz="86886" autoAdjust="0"/>
  </p:normalViewPr>
  <p:slideViewPr>
    <p:cSldViewPr snapToGrid="0" snapToObjects="1">
      <p:cViewPr varScale="1">
        <p:scale>
          <a:sx n="123" d="100"/>
          <a:sy n="123" d="100"/>
        </p:scale>
        <p:origin x="396" y="300"/>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Wed, 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Let's start with understanding what Hyper-V Replica is and why it's a game-changer for organizations that can't afford expensive disaster recovery solutions.
BULLETS:
• Enable VM-level disaster recovery without shared storage - This is the killer feature of Hyper-V Replica. You don't need a SAN, you don't need shared storage, you don't need identical hardware at both sites. Each Hyper-V host uses its local storage, and Hyper-V Replica handles copying VM changes between sites. This democratizes disaster recovery for small and medium businesses who previously couldn't afford DR solutions.
• Hyper-V Replica asynchronously copies virtual machines to another host - The key word here is asynchronously. Changes are tracked using change tracking on the primary VM, compressed, and sent to the replica server at regular intervals. This means there's no performance impact on your production VMs like you'd see with synchronous replication. The tradeoff is potential data loss measured in seconds or minutes, not zero data loss.
• Provides business continuity when primary servers fail - When your primary Hyper-V host fails, whether from hardware failure, natural disaster, or human error, you can start the replica VMs at the secondary site within minutes. Users reconnect to the same VMs running at the DR site. It's not instant failover like clustering provides, but it's much faster than restoring from backup.
• Requires only Hyper-V hosts, no SAN (storage area network) - The infrastructure requirements are minimal. You need two Hyper-V hosts that can communicate over the network. They can be in the same datacenter for hardware failure protection or in different sites for site-level protection. No special storage, no complex replication software, just Windows Server with the Hyper-V role. This dramatically reduces the cost of DR.
• Supports test, planned, and unplanned failover modes - These three modes cover every DR scenario. Test failover lets you validate DR readiness without any impact. Planned failover is for scheduled maintenance with zero data loss. Unplanned failover is for actual disasters when the primary is unavailable. Each mode serves a specific purpose in your DR strategy.
• Fabrikam uses Hyper-V Replica to protect branch office workloads - Fabrikam has 20 branch offices with local Hyper-V servers running critical workloads. They can't justify SANs at each branch, but they need DR protection. Each branch replicates to a central datacenter using Hyper-V Replica over their WAN links. During branch server maintenance, they do planned failovers to the datacenter. When a branch server failed last year, they had VMs running in the datacenter within 10 minutes using unplanned failover.
AZ-801 EXAM TIP: Know the Hyper-V Replica requirements. You need Windows Server 2012 or higher with the Hyper-V role. Standard Edition supports it, not just Datacenter. Network connectivity between sites is required, but it can be over WAN - no dedicated link needed. Authentication can be Kerberos (requires AD) or certificate-based (for workgroup or untrusted forests). The default port is 80 for Kerberos, 443 for certificates. Compression is enabled by default to reduce bandwidth usage.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Now let's configure our Hyper-V hosts to support replication - this is where we lay the groundwork for VM protection.
BULLETS:
• Enable replication on each Hyper-V host - Replication isn't enabled by default on Hyper-V hosts. Open Hyper-V Manager, right-click the host, select Hyper-V Settings, and click Replication Configuration. Check "Enable this computer as a Replica server" to allow it to receive replicas. This needs to be done on both primary and replica servers. In a cluster, enable the Hyper-V Replica Broker role instead.
• Choose authentication: Kerberos (AD) or certificate-based - Kerberos authentication is simpler if both hosts are in the same AD forest or trusted forests. It uses port 80 by default and requires no certificates. Certificate-based authentication works across untrusted domains, workgroups, or over the internet. It uses port 443 and requires certificates installed on both hosts. Most enterprises use Kerberos internally and certificates for replication to cloud providers or remote datacenters.
• Configure ports and firewall rules for replication traffic - Windows Firewall needs rules to allow replication traffic. The Hyper-V Replica HTTP Listener (TCP-In) rule allows Kerberos authentication on port 80. The Hyper-V Replica HTTPS Listener (TCP-In) rule allows certificate authentication on port 443. These rules are created automatically when you enable replication, but verify they're enabled. If using third-party firewalls, manually create rules for the appropriate ports.
• Compression reduces network bandwidth usage - Compression is enabled by default and typically reduces replication traffic by 50-60%. This is crucial for WAN replication where bandwidth is limited and expensive. The compression happens on the primary host before transmission, so it does use some CPU, but the tradeoff is worth it. You can disable compression if replicating over LAN with abundant bandwidth and you need to minimize CPU usage.
• Contoso enables replication on perimeter hosts for regulated workloads - Contoso's regulatory requirements mandate DR capabilities for certain workloads. They configured dedicated Hyper-V hosts in their DMZ for these regulated VMs. Using certificate-based authentication, they replicate to a compliant cloud provider. The setup passed their compliance audit because they could demonstrate successful test failovers and documented procedures. They use dedicated VLANs for replication traffic with QoS policies to guarantee bandwidth.
AZ-801 EXAM TIP: The exam often asks about cluster scenarios. In a cluster, you don't enable replication on individual nodes. Instead, you install the Hyper-V Replica Broker role on the cluster. This provides a single replication endpoint for the entire cluster. The broker handles replication regardless of which node owns the VM. If asked about authorization, remember you can specify which servers can replicate to this host - use "Allow replication from any authenticated server" for testing only.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Managing replica servers properly is critical for a successful DR strategy - let's explore how to configure and monitor the servers that will save you during a disaster.
BULLETS:
• Replica servers store copies of production VMs - The replica server is your DR site Hyper-V host that receives and stores replicated VMs. These VMs remain powered off until you initiate a failover. The replica server needs sufficient storage for all replicated VMs plus their recovery points. CPU and memory requirements are the same as the primary since these VMs will run here during disasters. Don't undersize your replica servers thinking they're just for storage.
• Extended replication creates a third copy at another site - Extended replication, introduced in Server 2012 R2, allows the replica server to replicate VMs to a third site. This creates a chain: Primary → Replica → Extended Replica. Use this for scenarios like branch office → regional datacenter → headquarters. The extended replica can have different replication intervals and recovery points than the initial replica. This provides protection against regional disasters affecting both primary and initial replica sites.
• Recovery history keeps multiple points for rollback - Hyper-V Replica can maintain up to 24 hourly recovery points. These are VSS snapshots taken on the replica server. If you replicate a VM that gets corrupted or infected with ransomware, you can fail over to a recovery point from before the problem occurred. Configure this based on your RPO and storage capacity. Each recovery point consumes additional storage, roughly 10-20% of the VM size depending on change rate.
• Health monitoring shows replication status and alerts - Monitor replication health religiously to ensure protection is working. Hyper-V Manager shows replication health as Normal, Warning, or Critical for each VM. Use Performance Monitor counters under Hyper-V Replica VM for detailed metrics like pending replication size and last replication time. System Center VMM provides centralized monitoring and alerting. PowerShell cmdlets like Get-VMReplication and Measure-VMReplication provide scriptable monitoring.
• Tailwind Traders uses extended replication for global resiliency - Tailwind Traders operates globally with datacenters in Seattle, London, and Sydney. Seattle VMs replicate to London (primary replica) with 5-minute intervals. London then replicates to Sydney (extended replica) with 15-minute intervals. This protects against both site-level disasters and regional events. During the London datacenter flood last year, they failed over to Sydney while London was restored. The three-site model meant business continued despite losing an entire region.
AZ-801 EXAM TIP: Remember the limitations of extended replication for the exam. Only the replica server can enable extended replication, not the primary. The extended replica can only receive from one replica server. You can't chain beyond three sites (no extended-extended replica). Recovery points are independent at each level - the replica might keep 12 points while extended keeps 24. If asked about bandwidth planning, extended replication doubles your WAN usage since you're replicating twice.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Now for the hands-on part - configuring actual VM replication to protect your critical workloads.
BULLETS:
• Set up replication for critical VMs - Not every VM needs replication, so prioritize based on business impact. Right-click a VM in Hyper-V Manager and select Enable Replication to launch the wizard. Specify the replica server name, choose authentication method, and select the VHDs to replicate. You can exclude temporary or pagefile disks to reduce replication traffic. Configure compression and encryption based on your security requirements.
• Initial replication can be over network, via external media, or from an existing VM copy - The initial replication copies the entire VM to the replica server. For large VMs over slow WAN links, this can take days. External media option lets you export the VM to a USB drive and physically transport it. If you already have an older copy at the replica site, use "Use an existing virtual machine" to replicate only the changes. Schedule initial replication for off-hours to avoid network saturation.
• Replication frequency: 30s, 5m, or 15m based on RPO needs - The 30-second option (added in Server 2016) provides near-real-time protection for critical workloads. It requires more bandwidth and generates more recovery points. The 5-minute option balances protection and resource usage for most production VMs. The 15-minute option works for less critical workloads or bandwidth-constrained sites. Your RPO (Recovery Point Objective) determines which interval to choose.
• Select which VHDs (virtual hard disks) to include - You don't have to replicate every disk attached to a VM. Exclude temporary data disks, pagefile disks, or disks containing data replicated by other means. For example, if SQL databases are replicated using AlwaysOn Availability Groups, exclude those disks from Hyper-V Replica. This reduces bandwidth usage and storage requirements at the replica site. Each disk can be included or excluded independently.
• Replication health dashboard tracks errors and sync state - After enabling replication, monitor the initial sync progress. The VM shows "Replicating" status with a percentage complete. Once synchronized, health should show "Normal" with green status. Warning states indicate replication delays but data is still protected. Critical states mean replication has stopped and intervention is required. Common issues include network connectivity, authentication failures, and insufficient disk space.
• Adventure Works configures 30-second replication for SQL servers - Adventure Works runs critical SQL servers on Hyper-V with databases that change rapidly. They configured 30-second replication intervals to minimize potential data loss. Combined with SQL AlwaysOn for database-level protection, this provides defense in depth. They maintain 48 recovery points (24 hours) to protect against corruption. During testing, they achieved an RPO of under 1 minute and RTO of 15 minutes. The 30-second replication uses about 100 Mbps during business hours.
AZ-801 EXAM TIP: The exam tests your understanding of VSS integration. Hyper-V Replica can create application-consistent recovery points using VSS. These ensure databases and applications are in a consistent state. Configure these hourly (1-12 hours) in addition to crash-consistent points. VSS requires Integration Services in the VM. Linux VMs only get crash-consistent points. If asked about bandwidth, a general rule is 1 Mbps per GB of daily change rate, but compression reduces this by half.</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When disaster strikes or you need to test your DR plan, you need to know exactly how to fail over - let's master all three failover types.
BULLETS:
• Test failover creates isolated copy for disaster recovery rehearsal - Test failover is your DR fire drill that doesn't impact production at all. It creates a disconnected copy of the VM at the replica site attached to an isolated network. The production VM keeps running, replication continues normally, and users are unaffected. Run test failovers monthly or quarterly to verify your DR procedures work. After testing, simply delete the test VM. Document your test results for compliance audits.
• Planned failover moves VMs with minimal data loss (primary VM shuts down) - Use planned failover for scheduled maintenance on the primary host or site. The process sends final changes to the replica, shuts down the primary VM cleanly, then starts the replica VM. Zero data loss occurs because the primary VM is shut down before failover completes. Network settings are preserved so clients reconnect automatically. After maintenance, you can fail back using another planned failover. This takes 5-10 minutes typically.
• Unplanned failover starts replicas immediately after outage - This is your emergency button when the primary site is down unexpectedly. You'll lose data since the last successful replication (30 seconds to 15 minutes depending on your interval). The replica VM starts with the latest available data. If you have recovery points, you can choose an earlier point if the latest is corrupted. After the primary site recovers, you'll need to reverse replication direction and resynchronize before failing back.
• Failback returns workloads to primary host after recovery - Failback is often forgotten but equally important as failover. After an unplanned failover, you need to reverse replication from replica to primary. This involves resynchronization which can take time. Plan your failback during a maintenance window. Update DNS and verify application functionality before declaring recovery complete. Document lessons learned from each failover event to improve your DR procedures.
• Fabrikam runs quarterly test failovers to validate readiness - Fabrikam treats DR testing as seriously as production deployments. Every quarter, they run test failovers for all replicated VMs. The IT team follows their documented runbooks while timing each step. They test application functionality, verify backup systems work at the DR site, and validate that clients can connect. Any issues discovered get remediated before the next test. This discipline paid off when they had a real storage failure - the unplanned failover completed in 12 minutes because everyone knew their roles.
AZ-801 EXAM TIP: The exam loves testing failover prerequisites and results. Test failover requires no special conditions - run it anytime. Planned failover requires the primary VM to be running and reachable - it won't work if the primary is already down. Unplanned failover should only be used when the primary is truly unavailable. After unplanned failover, the VMs at the replica become the new primary. You must reverse replication direction before you can fail back. Remember that failover doesn't update DNS automatically - that's a manual or scripted task.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Let's wrap up with your complete Hyper-V Replica implementation checklist and resources for mastering disaster recovery.
The shortened URL go.techtrainertim.com/blah should point to:
- Hyper-V Replica deployment guide
- Bandwidth planning calculator for replication
- PowerShell scripts for automated failover
- Test failover runbook template
- Extended replication configuration guide
Remember the Hyper-V Replica deployment sequence:
1. Enable replication on both primary and replica hosts
2. Configure authentication and firewall rules
3. Select VMs to protect based on business impact
4. Configure replication settings and intervals
5. Perform initial replication during off-hours
6. Monitor replication health continuously
7. Test failover quarterly at minimum
For the AZ-801 exam, focus on these key areas:
- Three failover types and when to use each
- Authentication options (Kerberos vs certificates)
- Replication intervals and their RPO implications
- Extended replication for three-site protection
- Hyper-V Replica Broker for clusters
Critical PowerShell cmdlets to memorize:
- Enable-VMReplication configures VM for replication
- Start-VMInitialReplication begins the first sync
- Start-VMFailover initiates any failover type
- Get-VMReplication shows replication status
- Measure-VMReplication provides detailed metrics
Common Hyper-V Replica gotchas to remember:
- It's not a backup solution - replicates deletions too
- Requires sufficient bandwidth for change rate
- Test failovers don't update DNS records
- Extended replica can't be the primary
- Clusters need Hyper-V Replica Broker role
Real-world performance expectations:
- Initial replication: 10-50 Mbps typical
- Ongoing replication: 1-10 Mbps per VM
- 30-second RPO requires stable, low-latency network
- Compression reduces traffic by 40-60%
- Test failover has zero production impact
Your CORP-CLUSTER could leverage Hyper-V Replica:
- Replicate critical VMs to a DR site
- Use certificate auth for cloud provider replication
- Implement extended replication for three-site protection
- Regular test failovers for compliance requirements</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Wed, 11/12/2025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12: Protect VMs with Hyper-V Replication</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90686" y="1246704"/>
            <a:ext cx="3516430" cy="2979037"/>
          </a:xfrm>
        </p:spPr>
        <p:txBody>
          <a:bodyPr>
            <a:noAutofit/>
          </a:bodyPr>
          <a:lstStyle/>
          <a:p>
            <a:pPr>
              <a:spcBef>
                <a:spcPts val="200"/>
              </a:spcBef>
              <a:spcAft>
                <a:spcPts val="400"/>
              </a:spcAft>
            </a:pPr>
            <a:r>
              <a:rPr lang="en-US" dirty="0"/>
              <a:t>12.1. Configure Hyper-V hosts for replication </a:t>
            </a:r>
          </a:p>
          <a:p>
            <a:pPr>
              <a:spcBef>
                <a:spcPts val="200"/>
              </a:spcBef>
              <a:spcAft>
                <a:spcPts val="400"/>
              </a:spcAft>
            </a:pPr>
            <a:r>
              <a:rPr lang="en-US" dirty="0"/>
              <a:t>12.2. Manage Hyper-V replica servers </a:t>
            </a:r>
          </a:p>
          <a:p>
            <a:pPr>
              <a:spcBef>
                <a:spcPts val="200"/>
              </a:spcBef>
              <a:spcAft>
                <a:spcPts val="400"/>
              </a:spcAft>
            </a:pPr>
            <a:r>
              <a:rPr lang="en-US" dirty="0"/>
              <a:t>12.3. Configure VM replication </a:t>
            </a:r>
          </a:p>
          <a:p>
            <a:pPr>
              <a:spcBef>
                <a:spcPts val="200"/>
              </a:spcBef>
              <a:spcAft>
                <a:spcPts val="400"/>
              </a:spcAft>
            </a:pPr>
            <a:r>
              <a:rPr lang="en-US" dirty="0"/>
              <a:t>12.4. Perform a failover </a:t>
            </a:r>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12.1 Configure Hyper-V hosts for replication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315032" cy="463628"/>
          </a:xfrm>
        </p:spPr>
        <p:txBody>
          <a:bodyPr/>
          <a:lstStyle/>
          <a:p>
            <a:r>
              <a:rPr lang="en-US" sz="2400"/>
              <a:t>Enable VM-level disaster recovery without shared storage</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Hyper-V Replica asynchronously copies virtual machines to another host</a:t>
            </a:r>
          </a:p>
          <a:p>
            <a:r>
              <a:rPr lang="en-US" sz="1800" dirty="0"/>
              <a:t>Provides business continuity when primary servers fail</a:t>
            </a:r>
          </a:p>
          <a:p>
            <a:r>
              <a:rPr lang="en-US" sz="1800" dirty="0"/>
              <a:t>Requires only Hyper-V hosts, no SAN (storage area network)</a:t>
            </a:r>
          </a:p>
          <a:p>
            <a:r>
              <a:rPr lang="en-US" sz="1800" dirty="0"/>
              <a:t>Supports test, planned, and unplanned failover modes</a:t>
            </a:r>
          </a:p>
          <a:p>
            <a:r>
              <a:rPr lang="en-US" sz="1800" dirty="0" err="1"/>
              <a:t>Fabrikam</a:t>
            </a:r>
            <a:r>
              <a:rPr lang="en-US" sz="1800" dirty="0"/>
              <a:t> uses Hyper-V Replica to protect branch office workloads</a:t>
            </a:r>
          </a:p>
        </p:txBody>
      </p:sp>
    </p:spTree>
    <p:extLst>
      <p:ext uri="{BB962C8B-B14F-4D97-AF65-F5344CB8AC3E}">
        <p14:creationId xmlns:p14="http://schemas.microsoft.com/office/powerpoint/2010/main" val="2568796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Prepare hosts to support VM replication</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Enable replication on each Hyper-V host</a:t>
            </a:r>
          </a:p>
          <a:p>
            <a:r>
              <a:rPr lang="en-US" sz="1800" dirty="0"/>
              <a:t>Choose authentication: Kerberos (AD) or certificate-based</a:t>
            </a:r>
          </a:p>
          <a:p>
            <a:r>
              <a:rPr lang="en-US" sz="1800" dirty="0"/>
              <a:t>Configure ports and firewall rules for replication traffic</a:t>
            </a:r>
          </a:p>
          <a:p>
            <a:r>
              <a:rPr lang="en-US" sz="1800" dirty="0"/>
              <a:t>Compression reduces network bandwidth usage</a:t>
            </a:r>
          </a:p>
          <a:p>
            <a:r>
              <a:rPr lang="en-US" sz="1800" dirty="0"/>
              <a:t>Contoso enables replication on perimeter hosts for regulated workloads</a:t>
            </a:r>
          </a:p>
        </p:txBody>
      </p:sp>
    </p:spTree>
    <p:extLst>
      <p:ext uri="{BB962C8B-B14F-4D97-AF65-F5344CB8AC3E}">
        <p14:creationId xmlns:p14="http://schemas.microsoft.com/office/powerpoint/2010/main" val="3893958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it-IT" sz="3600" dirty="0">
                <a:solidFill>
                  <a:srgbClr val="0978D8"/>
                </a:solidFill>
              </a:rPr>
              <a:t>12.2 Manage Hyper-V replica servers </a:t>
            </a:r>
          </a:p>
        </p:txBody>
      </p:sp>
    </p:spTree>
    <p:extLst>
      <p:ext uri="{BB962C8B-B14F-4D97-AF65-F5344CB8AC3E}">
        <p14:creationId xmlns:p14="http://schemas.microsoft.com/office/powerpoint/2010/main" val="1829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Manage servers that receive replicated VMs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Replica servers store copies of production VMs</a:t>
            </a:r>
          </a:p>
          <a:p>
            <a:r>
              <a:rPr lang="en-US" sz="1800" dirty="0"/>
              <a:t>Extended replication creates a third copy at another site</a:t>
            </a:r>
          </a:p>
          <a:p>
            <a:r>
              <a:rPr lang="en-US" sz="1800" dirty="0"/>
              <a:t>Recovery history keeps multiple points for rollback</a:t>
            </a:r>
          </a:p>
          <a:p>
            <a:r>
              <a:rPr lang="en-US" sz="1800" dirty="0"/>
              <a:t>Health monitoring shows replication status and alerts</a:t>
            </a:r>
          </a:p>
          <a:p>
            <a:r>
              <a:rPr lang="en-US" sz="1800" dirty="0"/>
              <a:t>Tailwind Traders uses extended replication for global resiliency</a:t>
            </a:r>
          </a:p>
        </p:txBody>
      </p:sp>
    </p:spTree>
    <p:extLst>
      <p:ext uri="{BB962C8B-B14F-4D97-AF65-F5344CB8AC3E}">
        <p14:creationId xmlns:p14="http://schemas.microsoft.com/office/powerpoint/2010/main" val="3600594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12.3 Configure VM replication </a:t>
            </a:r>
          </a:p>
        </p:txBody>
      </p:sp>
    </p:spTree>
    <p:extLst>
      <p:ext uri="{BB962C8B-B14F-4D97-AF65-F5344CB8AC3E}">
        <p14:creationId xmlns:p14="http://schemas.microsoft.com/office/powerpoint/2010/main" val="94790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Set up replication for critical VMs</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Initial replication can be over network, via external media, or from an existing VM copy</a:t>
            </a:r>
          </a:p>
          <a:p>
            <a:r>
              <a:rPr lang="en-US" sz="1800" dirty="0"/>
              <a:t>Replication frequency: 30s, 5m, or 15m based on RPO needs</a:t>
            </a:r>
          </a:p>
          <a:p>
            <a:r>
              <a:rPr lang="en-US" sz="1800" dirty="0"/>
              <a:t>Select which VHDs (virtual hard disks) to include</a:t>
            </a:r>
          </a:p>
          <a:p>
            <a:r>
              <a:rPr lang="en-US" sz="1800" dirty="0"/>
              <a:t>Replication health dashboard tracks errors and sync state</a:t>
            </a:r>
          </a:p>
          <a:p>
            <a:r>
              <a:rPr lang="en-US" sz="1800" dirty="0"/>
              <a:t>Adventure Works configures 30-second replication for SQL servers</a:t>
            </a:r>
          </a:p>
        </p:txBody>
      </p:sp>
    </p:spTree>
    <p:extLst>
      <p:ext uri="{BB962C8B-B14F-4D97-AF65-F5344CB8AC3E}">
        <p14:creationId xmlns:p14="http://schemas.microsoft.com/office/powerpoint/2010/main" val="126083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12.4 Perform a failover </a:t>
            </a:r>
          </a:p>
        </p:txBody>
      </p:sp>
    </p:spTree>
    <p:extLst>
      <p:ext uri="{BB962C8B-B14F-4D97-AF65-F5344CB8AC3E}">
        <p14:creationId xmlns:p14="http://schemas.microsoft.com/office/powerpoint/2010/main" val="578841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Fail over VMs to replica servers when needed</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Test failover creates isolated copy for disaster recovery rehearsal</a:t>
            </a:r>
          </a:p>
          <a:p>
            <a:r>
              <a:rPr lang="en-US" sz="1800" dirty="0">
                <a:latin typeface="Open Sans"/>
                <a:ea typeface="Open Sans"/>
                <a:cs typeface="Open Sans"/>
              </a:rPr>
              <a:t>Planned failover moves VMs with minimal data loss </a:t>
            </a:r>
            <a:br>
              <a:rPr lang="en-US" sz="1800" dirty="0">
                <a:latin typeface="Open Sans"/>
                <a:ea typeface="Open Sans"/>
                <a:cs typeface="Open Sans"/>
              </a:rPr>
            </a:br>
            <a:r>
              <a:rPr lang="en-US" sz="1800" dirty="0">
                <a:latin typeface="Open Sans"/>
                <a:ea typeface="Open Sans"/>
                <a:cs typeface="Open Sans"/>
              </a:rPr>
              <a:t>(primary VM shuts down)</a:t>
            </a:r>
          </a:p>
          <a:p>
            <a:r>
              <a:rPr lang="en-US" sz="1800" dirty="0"/>
              <a:t>Unplanned failover starts replicas immediately after outage</a:t>
            </a:r>
          </a:p>
          <a:p>
            <a:r>
              <a:rPr lang="en-US" sz="1800" dirty="0"/>
              <a:t>Failback returns workloads to primary host after recovery</a:t>
            </a:r>
          </a:p>
          <a:p>
            <a:r>
              <a:rPr lang="en-US" sz="1800" dirty="0" err="1"/>
              <a:t>Fabrikam</a:t>
            </a:r>
            <a:r>
              <a:rPr lang="en-US" sz="1800" dirty="0"/>
              <a:t> runs quarterly test failovers to validate readiness</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Diagram title in sentence case</a:t>
            </a:r>
          </a:p>
        </p:txBody>
      </p:sp>
      <p:sp>
        <p:nvSpPr>
          <p:cNvPr id="8" name="Rectangle: Rounded Corners 7">
            <a:extLst>
              <a:ext uri="{FF2B5EF4-FFF2-40B4-BE49-F238E27FC236}">
                <a16:creationId xmlns:a16="http://schemas.microsoft.com/office/drawing/2014/main" id="{1155EB2F-7448-A2AA-7CA9-989CB37A3F86}"/>
              </a:ext>
            </a:extLst>
          </p:cNvPr>
          <p:cNvSpPr/>
          <p:nvPr/>
        </p:nvSpPr>
        <p:spPr>
          <a:xfrm>
            <a:off x="2673037" y="4599417"/>
            <a:ext cx="3797925" cy="4636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go.techtrainertim.com/blah</a:t>
            </a:r>
          </a:p>
        </p:txBody>
      </p:sp>
    </p:spTree>
    <p:extLst>
      <p:ext uri="{BB962C8B-B14F-4D97-AF65-F5344CB8AC3E}">
        <p14:creationId xmlns:p14="http://schemas.microsoft.com/office/powerpoint/2010/main" val="4080705565"/>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8418544ccbba6eabd8ad7f32b71cd208">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263f9987bbc11137d77341febd189c27"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920C99BF-5DBB-4E5E-8232-1660DCDA7D83}">
  <ds:schemaRefs>
    <ds:schemaRef ds:uri="http://schemas.microsoft.com/sharepoint/v3/contenttype/forms"/>
  </ds:schemaRefs>
</ds:datastoreItem>
</file>

<file path=customXml/itemProps2.xml><?xml version="1.0" encoding="utf-8"?>
<ds:datastoreItem xmlns:ds="http://schemas.openxmlformats.org/officeDocument/2006/customXml" ds:itemID="{3A65DF40-D68E-413C-BB30-278CA49BB082}"/>
</file>

<file path=customXml/itemProps3.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34392</TotalTime>
  <Words>3585</Words>
  <Application>Microsoft Office PowerPoint</Application>
  <PresentationFormat>On-screen Show (16:9)</PresentationFormat>
  <Paragraphs>52</Paragraphs>
  <Slides>12</Slides>
  <Notes>7</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Open Sans</vt:lpstr>
      <vt:lpstr>Segoe Pro Display</vt:lpstr>
      <vt:lpstr>Segoe UI</vt:lpstr>
      <vt:lpstr>Segoe UI Light</vt:lpstr>
      <vt:lpstr>Segoe UI Semilight</vt:lpstr>
      <vt:lpstr>Standard_LiveLessons_2017</vt:lpstr>
      <vt:lpstr>PowerPoint Presentation</vt:lpstr>
      <vt:lpstr>PowerPoint Presentation</vt:lpstr>
      <vt:lpstr>PowerPoint Presentation</vt:lpstr>
      <vt:lpstr>Enable VM-level disaster recovery without shared storage</vt:lpstr>
      <vt:lpstr>Prepare hosts to support VM replication</vt:lpstr>
      <vt:lpstr>PowerPoint Presentation</vt:lpstr>
      <vt:lpstr>Manage servers that receive replicated VMs</vt:lpstr>
      <vt:lpstr>PowerPoint Presentation</vt:lpstr>
      <vt:lpstr>Set up replication for critical VMs</vt:lpstr>
      <vt:lpstr>PowerPoint Presentation</vt:lpstr>
      <vt:lpstr>Fail over VMs to replica servers when needed</vt:lpstr>
      <vt:lpstr>Diagram title in sentence case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106</cp:revision>
  <dcterms:created xsi:type="dcterms:W3CDTF">2015-09-28T19:52:00Z</dcterms:created>
  <dcterms:modified xsi:type="dcterms:W3CDTF">2025-11-12T20:01:29Z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