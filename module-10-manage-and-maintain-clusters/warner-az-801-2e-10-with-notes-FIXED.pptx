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0"/>
  </p:notesMasterIdLst>
  <p:sldIdLst>
    <p:sldId id="303" r:id="rId5"/>
    <p:sldId id="292" r:id="rId6"/>
    <p:sldId id="293" r:id="rId7"/>
    <p:sldId id="351" r:id="rId8"/>
    <p:sldId id="343" r:id="rId9"/>
    <p:sldId id="352" r:id="rId10"/>
    <p:sldId id="346" r:id="rId11"/>
    <p:sldId id="353" r:id="rId12"/>
    <p:sldId id="347" r:id="rId13"/>
    <p:sldId id="354" r:id="rId14"/>
    <p:sldId id="349" r:id="rId15"/>
    <p:sldId id="355" r:id="rId16"/>
    <p:sldId id="350" r:id="rId17"/>
    <p:sldId id="331" r:id="rId18"/>
    <p:sldId id="342" r:id="rId1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B8CA7-6058-4265-9CB5-40AFA3A31300}" v="34" dt="2025-08-22T20:57:53.499"/>
    <p1510:client id="{63038F8F-F86D-4E41-A026-5FAA8045D10B}" v="1" dt="2025-08-23T00:50:34.3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52680" autoAdjust="0"/>
  </p:normalViewPr>
  <p:slideViewPr>
    <p:cSldViewPr snapToGrid="0" snapToObjects="1">
      <p:cViewPr varScale="1">
        <p:scale>
          <a:sx n="74" d="100"/>
          <a:sy n="74" d="100"/>
        </p:scale>
        <p:origin x="1728" y="276"/>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Wed, 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Cluster-Aware Updating is the difference between spending your weekend patching servers manually and actually having a life. Let's see how CAU automates the entire patching workflow.
BULLETS:
• Cluster-Aware Updating (CAU) coordinates updates across nodes - CAU isn't just Windows Update on steroids - it's an intelligent orchestrator. It understands cluster dependencies, drains roles to other nodes before patching, handles reboots gracefully, and redistributes workloads after updates. It works with WSUS, SCCM, or Windows Update directly. One node updates at a time while the others maintain service availability.
• Self-updating mode installs CAU as a clustered role - This is "set it and forget it" patching. CAU runs as a clustered role on the cluster itself, so no external orchestrator is needed. It wakes up on its configured schedule (weekly by default), checks for updates, and patches all nodes sequentially. This mode is perfect for smaller environments without dedicated management infrastructure. It does require one cluster disk for the CAU clustered role.
• Remote-updating mode uses external orchestration - For larger environments, you can run CAU from a management server. This mode gives you more control over the process. You can preview updates before applying them, set custom schedules per cluster, and get centralized reporting across multiple clusters. It integrates beautifully with System Center Orchestrator or Azure Automation for enterprise workflows. No cluster resources are consumed for CAU itself in this mode.
• Pre/post scripts automate validation tasks - This is where CAU gets really powerful. Pre-update scripts can backup configurations, notify monitoring systems, or validate cluster health before starting. Post-update scripts verify that services started correctly, run smoke tests, or update your documentation automatically. These scripts run as Local System with full privileges. A common use case is stopping backup jobs before patching and restarting them after everything is complete.
• Adventure Works applies rolling updates with CAU - Adventure Works runs 20 Hyper-V clusters across three datacenters. They use CAU in self-updating mode with custom PowerShell scripts for validation. Their pre-script suspends Veeam backups and creates a ServiceNow change ticket. The post-script validates VM heartbeats and updates their CMDB with completion status. Monthly patching now completes over weekends automatically, and the IT staff actually gets their Monday mornings back.
AZ-801 EXAM TIP: Know the CAU PowerShell cmdlets for the exam. Add-CauClusterRole enables self-updating mode. Invoke-CauRun starts updates immediately. Get-CauRun shows current updating run status. The exam often asks about prerequisites, which are .NET 4.6+, PowerShell 5.1, and if using self-updating mode, a cluster disk for the CAU role. Remember that CAU can't update nodes in maintenance mode because they're explicitly excluded from the process.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Node failures are inevitable - hardware dies, Windows corrupts, admins make mistakes. Here's your recovery playbook when cluster nodes go down hard.
BULLETS:
• Evict failed node from cluster membership - The first rule of failed nodes is to get them out of the cluster as soon as possible. Use Failover Cluster Manager, navigate to Nodes, right-click the failed node, select More Actions, then Evict. This removes the node from cluster membership, cleans up cluster database references, and redistributes the vote weight to remaining nodes. If the node is completely dead, you'll need to force eviction with Remove-ClusterNode -Force in PowerShell.
• Force quorum start when insufficient nodes remain - If you've lost majority, you need to force quorum to bring the cluster back online. In PowerShell, run Start-ClusterNode -FixQuorum on the node you want to be authoritative. This overwrites the cluster database and forces this node's view as the correct configuration. This is dangerous and should only be used when you're absolutely certain this node has good data. Some documentation calls this "force quorum resiliency" or references the old "/fq switch" from earlier versions.
• Replace failed hardware and re-add node - After replacing the failed hardware, you need to prep the new node properly. Install Windows Server matching the version of other nodes, join it to the domain, install all required roles and features, and configure networking identically to other nodes. Then use Add-ClusterNode in Failover Cluster Manager to add it back. The validation wizard runs automatically, and you should fix any warnings before proceeding. The new node inherits cluster configurations and starts accepting workloads immediately.
• Recover cluster database from backup if corrupted - The cluster database lives in C:\Windows\Cluster\CLUSDB and C:\ProgramData\Microsoft\Windows\Registry. If it becomes corrupted, you can restore from Windows Server Backup or use cluster checkpoint recovery. Recent checkpoints are stored in C:\Windows\Cluster\Reports\Resources. The nuclear option is to destroy and rebuild the entire cluster, but you'll lose all configurations. Always backup your cluster configuration regularly with Get-Cluster | Export-Clixml.
• Fabrikam uses documented runbooks to speed recovery - Fabrikam has a complete runbook library covering every failure scenario they've encountered. Their "Node won't boot" runbook says to try LastKnownGood configuration first, then restore from backup. The "Cluster service won't start" runbook tells you to check dependencies and force quorum if needed. Their "Split-brain after network partition" guide instructs you to shutdown one partition completely before forcing quorum on the other. Each runbook includes both PowerShell commands and GUI steps. Their mean time to recovery is now 30 minutes for any node failure.
AZ-801 EXAM TIP: The exam tests quorum models and their failure tolerance extensively. Node Majority tolerates (nodes-1)/2 failures. Node and Disk Majority needs either a majority of nodes OR the witness disk to stay online. Node and File Share Majority uses an SMB witness for the tiebreaker vote. Cloud Witness using Azure blob storage is the newest option. Remember that dynamic quorum adjusts votes as nodes fail, improving overall resilience. If asked about recovering from "split brain," always shutdown one partition completely before forcing quorum on the other.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Cluster rolling upgrades let you move to newer Windows Server versions without downtime - the holy grail of infrastructure updates. Here's how to upgrade your clusters while keeping services online.
BULLETS:
• Rolling upgrades allow mixed-version nodes temporarily - Starting with Server 2012 R2, Microsoft supports mixed-version clusters during upgrades. You can have Server 2019 and Server 2022 nodes in the same cluster temporarily, though this isn't meant to be permanent. This "mixed-mode" operation lets you upgrade one node at a time without taking down services. Microsoft recommends a maximum of 4 weeks in mixed mode for production clusters, though most organizations complete the upgrade in a matter of days. VMs keep running throughout the entire process.
• Cluster functional level raised after all nodes updated - Cluster functional level works like AD forest functional level in that it unlocks new features but prevents rollback. Check your current level with Get-Cluster | Select ClusterFunctionalLevel to see where you are. After all nodes are upgraded to the new OS, run Update-ClusterFunctionalLevel to raise it. This action is completely irreversible, so be certain before executing. New features like improved storage replica performance or ReFS deduplication only activate after you raise the functional level.
• Validate app compatibility before upgrade - Not all workloads support rolling upgrades smoothly. SQL Server Availability Groups do support it, but SQL FCIs require downtime for the upgrade. Exchange DAGs support rolling upgrades, but you need to check cumulative update requirements carefully. Third-party clustering software often breaks during OS upgrades. Always test in non-production first without exception. Use Test-Cluster with the -Node parameter to validate individual upgraded nodes before continuing with the rest.
• Rollback procedures restore service if needed - Until you raise the cluster functional level, you technically can roll back. You evict the upgraded node, reinstall the previous OS version, and rejoin the cluster. But this process is painful and risky, so it's not recommended. A better approach is to snapshot or backup everything before starting the upgrade. Some organizations keep one node at the old version for several weeks as insurance. Document your rollback triggers clearly, such as application incompatibility, performance degradation, or stability issues.
• Contoso upgrades from WS2019 to WS2025 with zero downtime - Contoso's 8-node Hyper-V cluster runs 200 production VMs that can't tolerate downtime. Their upgrade process was methodical and careful. They drained VMs from node1 using live migration, evicted node1 from the cluster, performed a clean install of Server 2025, rejoined the cluster, and validated with Test-Cluster. They repeated this process for all remaining nodes over 4 consecutive weekends. After all nodes were upgraded, they raised the functional level. Total downtime for the VMs was exactly 0 minutes because they never stopped running.
AZ-801 EXAM TIP: Know the supported upgrade paths for the exam. You can go 2012 R2 to 2016 to 2019 to 2022 to 2025 in sequence. You can skip versions like going from 2016 to 2022, but test thoroughly first. The exam asks about ClusterFunctionalLevel numeric values: 9 equals 2016, 10 equals 2019, 11 equals 2022, and 13 equals 2025. Mixed-mode supports n and n-1 versions only. If asked about upgrading Storage Spaces Direct clusters, remember that the storage pool version must also be upgraded with Update-StoragePool.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Failover is why we build clusters - moving workloads between nodes for maintenance, load balancing, or disaster recovery. Let's master all the failover flavors Windows Server offers.
BULLETS:
• Manual failover enables planned maintenance - Right-click any clustered role in Failover Cluster Manager, select Move, then Select Node to choose the destination. Use this for planned maintenance like hardware upgrades or OS patching. The workload goes offline briefly (seconds to minutes depending on the application), starts on the target node, and then resumes service. Best practices include notifying users in advance, performing the failover during maintenance windows, and always testing your failback plan.
• Quick migration moves VMs with brief downtime - Quick migration is the older VM migration method, but it's still useful for large VMs or constrained networks. The process saves the VM state to disk, moves storage ownership to the target node, and then restores the VM state there. Downtime equals the time to save and restore memory, which is about 30 seconds for a 4GB VM but can be several minutes for a 256GB VM. No special network configuration is required because it works over the standard cluster network.
• Live migration transfers running VMs seamlessly - This is the crown jewel of Hyper-V clustering. VMs keep running during the entire migration with zero downtime and no dropped connections. Memory pages copy while the VM continues to run, followed by a microsecond switchover that users never notice. It requires a dedicated migration network for best performance. The feature supports compression or SMB Direct with RDMA for maximum speed. You can even migrate storage simultaneously using the "shared nothing live migration" feature.
• Storage migration moves VM files without shutdown - When you need to move VMs to new storage, storage migration relocates the VHD and VHDX files while the VM keeps running. This works with local storage, SMB shares, or CSV volumes equally well. It's incredibly useful for storage upgrades, load balancing, or implementing storage tiering. You can combine this with live migration for complete VM mobility. Monitor the progress with Get-VMStorageMigrationJob to track how the migration is proceeding.
• Tailwind Traders uses live migration for SQL workloads - Tailwind runs SQL Server on VMs for maximum flexibility. During maintenance windows, they live migrate SQL VMs between nodes with absolutely zero downtime. Their key settings include enabling CPU compatibility for processor independence, using a dedicated 10GbE migration network for speed, and configuring Kerberos for authentication to avoid CredSSP limitations. The result is that Sunday patching happens without weekend work because migrations run via PowerShell scheduled tasks automatically.
AZ-801 EXAM TIP: Know all the migration requirements for the exam. Live migration needs processor compatibility (same manufacturer and similar generation), shared storage or SMB 3.0, and a properly configured migration network. Authentication options are CredSSP (default but single-hop only) or Kerberos (requires constrained delegation for multi-hop). Performance options include TCP/IP compression (the default), SMB (requires SMB Direct/RDMA hardware), or none. If asked about "drain roles," that's Move-ClusterGroup with the -Wait parameter to ensure completion.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Patching cluster nodes without breaking everything requires finesse - you need to coordinate updates, maintain quorum, and keep services online. Here's the manual approach when CAU isn't enough.
BULLETS:
• Maintenance mode drains roles before patching - Put a node in maintenance mode via Failover Cluster Manager by right-clicking the node, selecting Pause, then Drain Roles. This gracefully moves all roles to other nodes in the cluster. VMs will live migrate automatically, while other roles restart on different nodes. The node stays in the cluster but doesn't host any workloads. The status shows as "Paused" in the console. Exit maintenance mode with Resume after your patching is complete.
• Orchestration ensures staggered node updates - Never patch all nodes simultaneously because you'll lose quorum and take down the cluster. Update order matters significantly. Patch passive nodes first, then save the node owning critical roles for last. For Hyper-V clusters, identify the CSV coordinator using Get-ClusterSharedVolumeState and patch other nodes first. For SQL clusters, patch secondary replicas first, fail over the primary, then patch the old primary last. Use Update-ClusterVirtualMachineConfiguration after patching to update all VM configurations.
• Staged updates reduce service disruption - Break large clusters into update groups for safety. Group 1 patches on Monday, Group 2 on Wednesday, and Group 3 on Friday. If problems emerge, you haven't broken the entire cluster. For geographically dispersed clusters, patch by site to maintain local services while the remote site updates. Stage updates by workload criticality too - patch dev/test VMs first and production VMs last.
• Validate patches against workloads before rollout - Always test updates in non-production clusters that match your production configurations. Run synthetic workload tests during the patching process to ensure failover still works properly. Check application event logs for any new errors after patches are applied. Verify that cluster validation passes with Test-Cluster -Node $patchedNode on each updated node. Have a documented rollback plan that includes the uninstall command (wusa /uninstall /kb:number) and test it in advance.
• Fabrikam validates updates in dev/test clusters first - Fabrikam mirrors their production clusters exactly in their test environment. Their monthly process downloads patches to WSUS first, approves them for the test cluster, lets CAU apply them automatically, then runs a 48-hour burn-in period with load testing. They check performance metrics and error logs thoroughly. If everything looks clean, they approve for production. If issues arise, they defer the patches and open a Microsoft support case. This process caught three bad patches in 2024 that would have broken production systems.
AZ-801 EXAM TIP: Understand the complete manual patching workflow for the exam. The steps are: 1) Pause the node and drain roles to other nodes, 2) Install updates using Windows Update, WSUS, or manual installation, 3) Reboot if required by the patches, 4) Run cluster validation on the patched node, 5) Resume the node to allow roles back, 6) Redistribute roles if needed for balance. The exam might ask about suspending cluster nodes where Suspend-ClusterNode -Drain drains roles first, while -ForceDrain ignores any errors. Remember that maintenance mode prevents roles from automatically failing back.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Windows Admin Center is Microsoft's answer to "Why do I need 47 different tools to manage my cluster?" - one web interface to rule them all. Let's see why WAC is the future of cluster management.
BULLETS:
• Web-based interface manages failover clusters end-to-end - WAC gives you everything Failover Cluster Manager does, plus much more, all in a web browser. No more RDP bouncing between servers or RSAT installation headaches. You can manage cluster roles, storage, networking, and nodes from anywhere with internet access. Real-time dashboards show health, performance metrics, and alerts instantly. PowerShell commands are displayed for every action you take, which is great for learning. It works equally well on-premises, in Azure, or in hybrid configurations.
• Cluster creation wizard simplifies deployment - Remember those 47-step cluster deployment guides we all used to follow? WAC reduces the entire process to a simple wizard. You select your nodes, validate the hardware automatically, configure networking with intelligent defaults, enable Storage Spaces Direct if desired, create the cluster, and you're done. Validation runs automatically with clear pass/fail results that are easy to understand. Network ATC (Automated Technology Configuration) sets up converged networking intelligently without manual configuration. It even handles stretched clusters across multiple sites.
• Built-in performance dashboards show health and usage - Forget about configuring perfmon or setting up complex monitoring solutions. WAC shows CPU, memory, storage, and network metrics in real-time with beautiful graphs. You get historical data for up to 30 days without any extra configuration needed. Predictive analytics warn you before resources become exhausted. VM-level metrics are available for Hyper-V clusters. Storage QoS and IOPS tracking are built right in. Alerts integrate seamlessly with Azure Monitor for hybrid scenarios.
• Azure integration extends management to hybrid clusters - WAC is the bridge between on-premises and Azure. You can register clusters with Azure Arc for centralized management across locations. Enable Azure Site Recovery directly from the WAC interface. Configure cloud witness in Azure Storage with just a few clicks. Sync all your logs to Azure Monitor or Log Analytics automatically. You can even deploy Azure Stack HCI entirely from WAC. Single sign-on works with Azure AD for authentication. This is Microsoft's hybrid cloud vision fully realized.
• Adventure Works uses WAC for both on-prem and Azure nodes - Adventure Works manages 50 on-premises clusters and 20 Azure Stack HCI clusters from a single WAC gateway. Their engineers access WAC from home via Azure AD Application Proxy without needing a VPN connection. They use Azure Automation runbooks triggered from WAC for complex workflows. Monthly reports are generated automatically using WAC's PowerBI integration. The result is a 70% reduction in management overhead and 90% faster incident resolution times.
AZ-801 EXAM TIP: Know all WAC requirements for cluster management. The WAC gateway needs Windows Server 2016+ or Windows 10/11, .NET Framework 4.6.2+, and PowerShell 5.1+. Managed nodes need WMF 5.1+, with CredSSP or Kerberos authentication enabled. For cluster management specifically, nodes must be in the same domain or trusted domains, and you need cluster administrative privileges. The exam loves asking about WAC high availability - deploy the gateway on a failover cluster with a SQL database for configuration storage. Remember that WAC is completely free but requires proper Windows licenses for all managed nodes.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key resources and your cluster management survival toolkit for the real world and the AZ-801 exam.
The shortened URL go.techtrainertim.com/blah should point to:
- Cluster-Aware Updating deep dive documentation
- Windows Admin Center deployment guide  
- Cluster rolling upgrade walkthrough
- Failover clustering PowerShell reference
- Azure Stack HCI evaluation guide
Remember the cluster management hierarchy:
1. Keep clusters healthy - monitor, patch, and validate regularly
2. Plan maintenance windows - use CAU or manual orchestration  
3. Handle failures gracefully - practice recovery procedures before you need them
4. Upgrade systematically - rolling upgrades minimize risk significantly
5. Embrace WAC - it truly is the future of Windows management
For the AZ-801 exam, focus on these key areas:
- CAU modes (self-updating versus remote-updating)
- Quorum models and their failure tolerance
- Rolling upgrade process and functional levels
- Live migration requirements and authentication methods
- WAC capabilities and specific requirements
Critical PowerShell cmdlets to memorize:
- Add-CauClusterRole enables CAU self-updating mode
- Start-ClusterNode -FixQuorum forces quorum recovery
- Update-ClusterFunctionalLevel raises level after upgrades
- Move-ClusterGroup performs manual failover operations
- Suspend-ClusterNode -Drain enters maintenance mode
Common cluster gotchas to remember:
- Mixed-mode clusters are temporary with a 4-week maximum
- Forcing quorum can cause data loss if you choose wrong
- CAU needs .NET 4.6+ and PowerShell 5.1 to function
- Live migration requires processor compatibility between nodes
- WAC gateway HA needs a SQL database for configuration</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Wed, 11/12/2025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10: Manage and Maintain Clusters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162533"/>
            <a:ext cx="3516430" cy="2979037"/>
          </a:xfrm>
        </p:spPr>
        <p:txBody>
          <a:bodyPr>
            <a:noAutofit/>
          </a:bodyPr>
          <a:lstStyle/>
          <a:p>
            <a:pPr>
              <a:spcBef>
                <a:spcPts val="200"/>
              </a:spcBef>
              <a:spcAft>
                <a:spcPts val="400"/>
              </a:spcAft>
            </a:pPr>
            <a:r>
              <a:rPr lang="en-US" dirty="0"/>
              <a:t>10.1. Implement cluster-aware updating </a:t>
            </a:r>
          </a:p>
          <a:p>
            <a:pPr>
              <a:spcBef>
                <a:spcPts val="200"/>
              </a:spcBef>
              <a:spcAft>
                <a:spcPts val="400"/>
              </a:spcAft>
            </a:pPr>
            <a:r>
              <a:rPr lang="en-US" dirty="0"/>
              <a:t>10.2. Recover a failed cluster node </a:t>
            </a:r>
          </a:p>
          <a:p>
            <a:pPr>
              <a:spcBef>
                <a:spcPts val="200"/>
              </a:spcBef>
              <a:spcAft>
                <a:spcPts val="400"/>
              </a:spcAft>
            </a:pPr>
            <a:r>
              <a:rPr lang="en-US" dirty="0"/>
              <a:t>10.3. Upgrade failover cluster nodes </a:t>
            </a:r>
          </a:p>
          <a:p>
            <a:pPr>
              <a:spcBef>
                <a:spcPts val="200"/>
              </a:spcBef>
              <a:spcAft>
                <a:spcPts val="400"/>
              </a:spcAft>
            </a:pPr>
            <a:r>
              <a:rPr lang="en-US" dirty="0"/>
              <a:t>10.4. Failover workloads between nodes </a:t>
            </a:r>
          </a:p>
          <a:p>
            <a:pPr>
              <a:spcBef>
                <a:spcPts val="200"/>
              </a:spcBef>
              <a:spcAft>
                <a:spcPts val="400"/>
              </a:spcAft>
            </a:pPr>
            <a:r>
              <a:rPr lang="en-US" dirty="0"/>
              <a:t>10.5. Install Windows updates on cluster nodes </a:t>
            </a:r>
          </a:p>
          <a:p>
            <a:pPr>
              <a:spcBef>
                <a:spcPts val="200"/>
              </a:spcBef>
              <a:spcAft>
                <a:spcPts val="400"/>
              </a:spcAft>
            </a:pPr>
            <a:r>
              <a:rPr lang="en-US" dirty="0"/>
              <a:t>10.6. Use Windows Admin Center as the primary management tool for hybrid and cluster operations</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10.1 Implement cluster-aware updating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Patch clusters with minimal disruption</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Cluster-Aware Updating (CAU) coordinates updates across nodes</a:t>
            </a:r>
          </a:p>
          <a:p>
            <a:r>
              <a:rPr lang="en-US" sz="1800" dirty="0"/>
              <a:t>Self-updating mode installs CAU as a clustered </a:t>
            </a:r>
            <a:r>
              <a:rPr lang="en-US" sz="1800" dirty="0" err="1"/>
              <a:t>roleRemote</a:t>
            </a:r>
            <a:r>
              <a:rPr lang="en-US" sz="1800" dirty="0"/>
              <a:t>-updating mode uses external orchestration</a:t>
            </a:r>
          </a:p>
          <a:p>
            <a:r>
              <a:rPr lang="en-US" sz="1800" dirty="0"/>
              <a:t>Pre/post scripts automate validation tasks</a:t>
            </a:r>
          </a:p>
          <a:p>
            <a:r>
              <a:rPr lang="en-US" sz="1800" dirty="0"/>
              <a:t>Adventure Works applies rolling updates with CAU</a:t>
            </a:r>
          </a:p>
        </p:txBody>
      </p:sp>
    </p:spTree>
    <p:extLst>
      <p:ext uri="{BB962C8B-B14F-4D97-AF65-F5344CB8AC3E}">
        <p14:creationId xmlns:p14="http://schemas.microsoft.com/office/powerpoint/2010/main" val="3001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10.2 Recover a failed cluster node </a:t>
            </a:r>
          </a:p>
        </p:txBody>
      </p:sp>
    </p:spTree>
    <p:extLst>
      <p:ext uri="{BB962C8B-B14F-4D97-AF65-F5344CB8AC3E}">
        <p14:creationId xmlns:p14="http://schemas.microsoft.com/office/powerpoint/2010/main" val="1829040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Restore cluster health after node failure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Evict failed node from cluster membership</a:t>
            </a:r>
          </a:p>
          <a:p>
            <a:r>
              <a:rPr lang="en-US" sz="1800" dirty="0"/>
              <a:t>Force quorum start when insufficient nodes remain</a:t>
            </a:r>
          </a:p>
          <a:p>
            <a:r>
              <a:rPr lang="en-US" sz="1800" dirty="0"/>
              <a:t>Replace failed hardware and re-add node</a:t>
            </a:r>
          </a:p>
          <a:p>
            <a:r>
              <a:rPr lang="en-US" sz="1800" dirty="0"/>
              <a:t>Recover cluster database from backup if corrupted</a:t>
            </a:r>
          </a:p>
          <a:p>
            <a:r>
              <a:rPr lang="en-US" sz="1800" dirty="0" err="1"/>
              <a:t>Fabrikam</a:t>
            </a:r>
            <a:r>
              <a:rPr lang="en-US" sz="1800" dirty="0"/>
              <a:t> uses documented runbooks to speed recovery</a:t>
            </a:r>
          </a:p>
        </p:txBody>
      </p:sp>
    </p:spTree>
    <p:extLst>
      <p:ext uri="{BB962C8B-B14F-4D97-AF65-F5344CB8AC3E}">
        <p14:creationId xmlns:p14="http://schemas.microsoft.com/office/powerpoint/2010/main" val="59787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10.3 Upgrade failover cluster nodes </a:t>
            </a:r>
          </a:p>
        </p:txBody>
      </p:sp>
    </p:spTree>
    <p:extLst>
      <p:ext uri="{BB962C8B-B14F-4D97-AF65-F5344CB8AC3E}">
        <p14:creationId xmlns:p14="http://schemas.microsoft.com/office/powerpoint/2010/main" val="9479079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Upgrade clusters with minimal downtime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Rolling upgrades allow mixed-version nodes temporarily</a:t>
            </a:r>
          </a:p>
          <a:p>
            <a:r>
              <a:rPr lang="en-US" sz="1800" dirty="0"/>
              <a:t>Cluster functional level raised after all nodes updated</a:t>
            </a:r>
          </a:p>
          <a:p>
            <a:r>
              <a:rPr lang="en-US" sz="1800" dirty="0"/>
              <a:t>Validate app compatibility before upgrade</a:t>
            </a:r>
          </a:p>
          <a:p>
            <a:r>
              <a:rPr lang="en-US" sz="1800" dirty="0"/>
              <a:t>Rollback procedures restore service if needed</a:t>
            </a:r>
          </a:p>
          <a:p>
            <a:r>
              <a:rPr lang="en-US" sz="1800" dirty="0"/>
              <a:t>Contoso upgrades from WS2019 to WS2025 with zero downtime</a:t>
            </a:r>
          </a:p>
        </p:txBody>
      </p:sp>
    </p:spTree>
    <p:extLst>
      <p:ext uri="{BB962C8B-B14F-4D97-AF65-F5344CB8AC3E}">
        <p14:creationId xmlns:p14="http://schemas.microsoft.com/office/powerpoint/2010/main" val="33076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10.4 Failover workloads between nodes </a:t>
            </a:r>
          </a:p>
        </p:txBody>
      </p:sp>
    </p:spTree>
    <p:extLst>
      <p:ext uri="{BB962C8B-B14F-4D97-AF65-F5344CB8AC3E}">
        <p14:creationId xmlns:p14="http://schemas.microsoft.com/office/powerpoint/2010/main" val="914007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Move workloads for maintenance or recovery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Manual failover enables planned maintenance</a:t>
            </a:r>
          </a:p>
          <a:p>
            <a:r>
              <a:rPr lang="en-US" sz="1800" dirty="0"/>
              <a:t>Quick migration moves VMs with brief downtime</a:t>
            </a:r>
          </a:p>
          <a:p>
            <a:r>
              <a:rPr lang="en-US" sz="1800" dirty="0"/>
              <a:t>Live migration transfers running VMs seamlessly</a:t>
            </a:r>
          </a:p>
          <a:p>
            <a:r>
              <a:rPr lang="en-US" sz="1800" dirty="0"/>
              <a:t>Storage migration moves VM files without shutdown</a:t>
            </a:r>
          </a:p>
          <a:p>
            <a:r>
              <a:rPr lang="en-US" sz="1800" dirty="0"/>
              <a:t>Tailwind Traders uses live migration for SQL workloads</a:t>
            </a:r>
          </a:p>
        </p:txBody>
      </p:sp>
    </p:spTree>
    <p:extLst>
      <p:ext uri="{BB962C8B-B14F-4D97-AF65-F5344CB8AC3E}">
        <p14:creationId xmlns:p14="http://schemas.microsoft.com/office/powerpoint/2010/main" val="4038088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10.5 Install Windows updates on cluster nodes </a:t>
            </a:r>
          </a:p>
        </p:txBody>
      </p:sp>
    </p:spTree>
    <p:extLst>
      <p:ext uri="{BB962C8B-B14F-4D97-AF65-F5344CB8AC3E}">
        <p14:creationId xmlns:p14="http://schemas.microsoft.com/office/powerpoint/2010/main" val="1639766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Coordinate updates to keep services online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Maintenance mode drains roles before patching</a:t>
            </a:r>
          </a:p>
          <a:p>
            <a:r>
              <a:rPr lang="en-US" sz="1800" dirty="0"/>
              <a:t>Orchestration ensures staggered node updates</a:t>
            </a:r>
          </a:p>
          <a:p>
            <a:r>
              <a:rPr lang="en-US" sz="1800" dirty="0"/>
              <a:t>Staged updates reduce service disruption</a:t>
            </a:r>
          </a:p>
          <a:p>
            <a:r>
              <a:rPr lang="en-US" sz="1800" dirty="0"/>
              <a:t>Validate patches against workloads before rollout</a:t>
            </a:r>
          </a:p>
          <a:p>
            <a:r>
              <a:rPr lang="en-US" sz="1800" dirty="0" err="1"/>
              <a:t>Fabrikam</a:t>
            </a:r>
            <a:r>
              <a:rPr lang="en-US" sz="1800" dirty="0"/>
              <a:t> validates updates in dev/test clusters first</a:t>
            </a:r>
          </a:p>
        </p:txBody>
      </p:sp>
    </p:spTree>
    <p:extLst>
      <p:ext uri="{BB962C8B-B14F-4D97-AF65-F5344CB8AC3E}">
        <p14:creationId xmlns:p14="http://schemas.microsoft.com/office/powerpoint/2010/main" val="307869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10.6 Use Windows Admin Center as the primary management tool for hybrid and cluster operations</a:t>
            </a:r>
          </a:p>
        </p:txBody>
      </p:sp>
    </p:spTree>
    <p:extLst>
      <p:ext uri="{BB962C8B-B14F-4D97-AF65-F5344CB8AC3E}">
        <p14:creationId xmlns:p14="http://schemas.microsoft.com/office/powerpoint/2010/main" val="871822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07783" cy="463628"/>
          </a:xfrm>
        </p:spPr>
        <p:txBody>
          <a:bodyPr/>
          <a:lstStyle/>
          <a:p>
            <a:r>
              <a:rPr lang="en-US"/>
              <a:t>Centralize hybrid cluster management with WAC</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Web-based interface manages failover clusters end-to-end</a:t>
            </a:r>
          </a:p>
          <a:p>
            <a:r>
              <a:rPr lang="en-US" sz="1800" dirty="0"/>
              <a:t>Cluster creation wizard simplifies deployment</a:t>
            </a:r>
          </a:p>
          <a:p>
            <a:r>
              <a:rPr lang="en-US" sz="1800" dirty="0"/>
              <a:t>Built-in performance dashboards show health and usage</a:t>
            </a:r>
          </a:p>
          <a:p>
            <a:r>
              <a:rPr lang="en-US" sz="1800" dirty="0"/>
              <a:t>Azure integration extends management to hybrid clusters</a:t>
            </a:r>
          </a:p>
          <a:p>
            <a:r>
              <a:rPr lang="en-US" sz="1800" dirty="0"/>
              <a:t>Adventure Works uses WAC for both on-prem and Azure nodes</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customXml/itemProps2.xml><?xml version="1.0" encoding="utf-8"?>
<ds:datastoreItem xmlns:ds="http://schemas.openxmlformats.org/officeDocument/2006/customXml" ds:itemID="{1404053E-15EC-4E2A-8FDF-FC04358B100C}"/>
</file>

<file path=customXml/itemProps3.xml><?xml version="1.0" encoding="utf-8"?>
<ds:datastoreItem xmlns:ds="http://schemas.openxmlformats.org/officeDocument/2006/customXml" ds:itemID="{920C99BF-5DBB-4E5E-8232-1660DCDA7D83}">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34385</TotalTime>
  <Words>4288</Words>
  <Application>Microsoft Office PowerPoint</Application>
  <PresentationFormat>On-screen Show (16:9)</PresentationFormat>
  <Paragraphs>62</Paragraphs>
  <Slides>15</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Patch clusters with minimal disruption</vt:lpstr>
      <vt:lpstr>PowerPoint Presentation</vt:lpstr>
      <vt:lpstr>Restore cluster health after node failure</vt:lpstr>
      <vt:lpstr>PowerPoint Presentation</vt:lpstr>
      <vt:lpstr>Upgrade clusters with minimal downtime</vt:lpstr>
      <vt:lpstr>PowerPoint Presentation</vt:lpstr>
      <vt:lpstr>Move workloads for maintenance or recovery</vt:lpstr>
      <vt:lpstr>PowerPoint Presentation</vt:lpstr>
      <vt:lpstr>Coordinate updates to keep services online</vt:lpstr>
      <vt:lpstr>PowerPoint Presentation</vt:lpstr>
      <vt:lpstr>Centralize hybrid cluster management with WAC</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2025-11-12T13:05:59Z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